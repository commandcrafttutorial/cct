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2011679" y="1097279"/>
            <a:ext cx="5120642" cy="2926082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2011679" y="1097280"/>
            <a:ext cx="5120642" cy="27432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2194560" y="1170432"/>
            <a:ext cx="109729" cy="109729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2395727" y="1170432"/>
            <a:ext cx="109729" cy="109729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2596895" y="1170432"/>
            <a:ext cx="109729" cy="109729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2057399" y="1546859"/>
            <a:ext cx="5029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🖥️  Command Craft Tutorial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2057399" y="2134229"/>
            <a:ext cx="5029201" cy="30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웹 브라우저에서 Git 명령어를 게임처럼 배우자</a:t>
            </a:r>
          </a:p>
        </p:txBody>
      </p:sp>
      <p:sp>
        <p:nvSpPr>
          <p:cNvPr id="27" name="Shape 7"/>
          <p:cNvSpPr/>
          <p:nvPr/>
        </p:nvSpPr>
        <p:spPr>
          <a:xfrm>
            <a:off x="2743200" y="2560320"/>
            <a:ext cx="3657600" cy="18289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2057399" y="2679744"/>
            <a:ext cx="5029201" cy="26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Team CCT  · 강희전 이승재 황상하 · 2026.04.30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2240280" y="3133578"/>
            <a:ext cx="4480560" cy="270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➜  ~  git clone CCT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💡 목차</a:t>
            </a:r>
          </a:p>
        </p:txBody>
      </p:sp>
      <p:sp>
        <p:nvSpPr>
          <p:cNvPr id="32" name="Shape 5"/>
          <p:cNvSpPr/>
          <p:nvPr/>
        </p:nvSpPr>
        <p:spPr>
          <a:xfrm>
            <a:off x="415083" y="1129307"/>
            <a:ext cx="8089639" cy="3474721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" name="Text 8"/>
          <p:cNvSpPr txBox="1"/>
          <p:nvPr/>
        </p:nvSpPr>
        <p:spPr>
          <a:xfrm>
            <a:off x="731278" y="1493798"/>
            <a:ext cx="3566161" cy="274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1.프로젝트 소개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2.기술 스택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3.시스템 아키텍처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4.주요 기능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5.채점 시스템 &amp; Git 시뮬레이터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6.DB 설계</a:t>
            </a:r>
          </a:p>
        </p:txBody>
      </p:sp>
      <p:sp>
        <p:nvSpPr>
          <p:cNvPr id="34" name="Text 8"/>
          <p:cNvSpPr txBox="1"/>
          <p:nvPr/>
        </p:nvSpPr>
        <p:spPr>
          <a:xfrm>
            <a:off x="4876892" y="976630"/>
            <a:ext cx="3566161" cy="319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7.브랜치 전략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8.역할분담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9.진행사항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10.어려웠던 점 &amp; 해결 방법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11.아쉬운 점 &amp; 추가하고 싶은 기능</a:t>
            </a:r>
          </a:p>
          <a:p>
            <a:pPr>
              <a:lnSpc>
                <a:spcPct val="200000"/>
              </a:lnSpc>
              <a:defRPr sz="15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12.Q&amp;A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💡 프로젝트 소개</a:t>
            </a:r>
          </a:p>
        </p:txBody>
      </p:sp>
      <p:sp>
        <p:nvSpPr>
          <p:cNvPr id="37" name="Shape 1"/>
          <p:cNvSpPr/>
          <p:nvPr/>
        </p:nvSpPr>
        <p:spPr>
          <a:xfrm>
            <a:off x="457199" y="960119"/>
            <a:ext cx="3931922" cy="3474722"/>
          </a:xfrm>
          <a:prstGeom prst="rect">
            <a:avLst/>
          </a:prstGeom>
          <a:solidFill>
            <a:srgbClr val="13131F"/>
          </a:solidFill>
          <a:ln w="12700">
            <a:solidFill>
              <a:srgbClr val="2A2A3D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" name="Shape 2"/>
          <p:cNvSpPr/>
          <p:nvPr/>
        </p:nvSpPr>
        <p:spPr>
          <a:xfrm>
            <a:off x="457199" y="960119"/>
            <a:ext cx="3931922" cy="347473"/>
          </a:xfrm>
          <a:prstGeom prst="rect">
            <a:avLst/>
          </a:prstGeom>
          <a:solidFill>
            <a:srgbClr val="3A1A1A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3"/>
          <p:cNvSpPr txBox="1"/>
          <p:nvPr/>
        </p:nvSpPr>
        <p:spPr>
          <a:xfrm>
            <a:off x="594359" y="959358"/>
            <a:ext cx="365760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38B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❌  기존 학습 방법의 문제점</a:t>
            </a:r>
          </a:p>
        </p:txBody>
      </p:sp>
      <p:sp>
        <p:nvSpPr>
          <p:cNvPr id="40" name="Text 4"/>
          <p:cNvSpPr txBox="1"/>
          <p:nvPr/>
        </p:nvSpPr>
        <p:spPr>
          <a:xfrm>
            <a:off x="685800" y="1766947"/>
            <a:ext cx="3566160" cy="2135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책/문서로만 배우면 실습 부족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실제 터미널은 실수 시 되돌리기 어려움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반복 학습 환경이 없음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재미없어서 금방 포기</a:t>
            </a:r>
          </a:p>
          <a:p>
            <a:pPr>
              <a:lnSpc>
                <a:spcPct val="140000"/>
              </a:lnSpc>
              <a:defRPr sz="1200"/>
            </a:pP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Git은 개발자라면 반드시 알아야 하는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도구이지만 처음 배울 때 명령어가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낯설고 어렵습니다.</a:t>
            </a:r>
          </a:p>
        </p:txBody>
      </p:sp>
      <p:sp>
        <p:nvSpPr>
          <p:cNvPr id="41" name="Shape 5"/>
          <p:cNvSpPr/>
          <p:nvPr/>
        </p:nvSpPr>
        <p:spPr>
          <a:xfrm>
            <a:off x="4754879" y="960119"/>
            <a:ext cx="3931921" cy="3474722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Shape 6"/>
          <p:cNvSpPr/>
          <p:nvPr/>
        </p:nvSpPr>
        <p:spPr>
          <a:xfrm>
            <a:off x="4754879" y="960119"/>
            <a:ext cx="3931921" cy="347473"/>
          </a:xfrm>
          <a:prstGeom prst="rect">
            <a:avLst/>
          </a:prstGeom>
          <a:solidFill>
            <a:srgbClr val="1A3A2A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7"/>
          <p:cNvSpPr txBox="1"/>
          <p:nvPr/>
        </p:nvSpPr>
        <p:spPr>
          <a:xfrm>
            <a:off x="4892040" y="959358"/>
            <a:ext cx="365760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✅  CCT의 해결책</a:t>
            </a:r>
          </a:p>
        </p:txBody>
      </p:sp>
      <p:sp>
        <p:nvSpPr>
          <p:cNvPr id="44" name="Text 8"/>
          <p:cNvSpPr txBox="1"/>
          <p:nvPr/>
        </p:nvSpPr>
        <p:spPr>
          <a:xfrm>
            <a:off x="4892040" y="1766947"/>
            <a:ext cx="3566160" cy="2135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웹 브라우저에서 안전하게 실습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스테이지별 단계적 학습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게임처럼 재미있는 구성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• 즉각적인 성공/실패 피드백</a:t>
            </a:r>
          </a:p>
          <a:p>
            <a:pPr>
              <a:lnSpc>
                <a:spcPct val="140000"/>
              </a:lnSpc>
              <a:defRPr sz="1200"/>
            </a:pP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실제 터미널 환경 없이도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Git 명령어를 체계적으로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배울 수 있습니다.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⚙️  기술 스택</a:t>
            </a:r>
          </a:p>
        </p:txBody>
      </p:sp>
      <p:sp>
        <p:nvSpPr>
          <p:cNvPr id="47" name="Shape 1"/>
          <p:cNvSpPr/>
          <p:nvPr/>
        </p:nvSpPr>
        <p:spPr>
          <a:xfrm>
            <a:off x="457199" y="1005839"/>
            <a:ext cx="3931922" cy="1828801"/>
          </a:xfrm>
          <a:prstGeom prst="rect">
            <a:avLst/>
          </a:prstGeom>
          <a:solidFill>
            <a:srgbClr val="13131F"/>
          </a:solidFill>
          <a:ln w="1905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Shape 2"/>
          <p:cNvSpPr/>
          <p:nvPr/>
        </p:nvSpPr>
        <p:spPr>
          <a:xfrm>
            <a:off x="457200" y="1005839"/>
            <a:ext cx="64008" cy="1828801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3"/>
          <p:cNvSpPr txBox="1"/>
          <p:nvPr/>
        </p:nvSpPr>
        <p:spPr>
          <a:xfrm>
            <a:off x="685800" y="1105407"/>
            <a:ext cx="3566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50" name="Text 4"/>
          <p:cNvSpPr txBox="1"/>
          <p:nvPr/>
        </p:nvSpPr>
        <p:spPr>
          <a:xfrm>
            <a:off x="685800" y="1805304"/>
            <a:ext cx="356616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5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React 18  ·  Vite  ·  React Router DOM  ·  Axios  ·  Zustand</a:t>
            </a:r>
          </a:p>
        </p:txBody>
      </p:sp>
      <p:sp>
        <p:nvSpPr>
          <p:cNvPr id="51" name="Shape 5"/>
          <p:cNvSpPr/>
          <p:nvPr/>
        </p:nvSpPr>
        <p:spPr>
          <a:xfrm>
            <a:off x="4846320" y="1005839"/>
            <a:ext cx="3931921" cy="1828801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Shape 6"/>
          <p:cNvSpPr/>
          <p:nvPr/>
        </p:nvSpPr>
        <p:spPr>
          <a:xfrm>
            <a:off x="4846320" y="1005839"/>
            <a:ext cx="64009" cy="1828801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7"/>
          <p:cNvSpPr txBox="1"/>
          <p:nvPr/>
        </p:nvSpPr>
        <p:spPr>
          <a:xfrm>
            <a:off x="5074920" y="1105407"/>
            <a:ext cx="3566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54" name="Text 8"/>
          <p:cNvSpPr txBox="1"/>
          <p:nvPr/>
        </p:nvSpPr>
        <p:spPr>
          <a:xfrm>
            <a:off x="5074920" y="1805304"/>
            <a:ext cx="356616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5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Node.js  ·  Express  ·  Knex.js  ·  dotenv  ·  nodemon</a:t>
            </a:r>
          </a:p>
        </p:txBody>
      </p:sp>
      <p:sp>
        <p:nvSpPr>
          <p:cNvPr id="55" name="Shape 9"/>
          <p:cNvSpPr/>
          <p:nvPr/>
        </p:nvSpPr>
        <p:spPr>
          <a:xfrm>
            <a:off x="457199" y="3108960"/>
            <a:ext cx="3931922" cy="1828801"/>
          </a:xfrm>
          <a:prstGeom prst="rect">
            <a:avLst/>
          </a:prstGeom>
          <a:solidFill>
            <a:srgbClr val="13131F"/>
          </a:solidFill>
          <a:ln w="1905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" name="Shape 10"/>
          <p:cNvSpPr/>
          <p:nvPr/>
        </p:nvSpPr>
        <p:spPr>
          <a:xfrm>
            <a:off x="457200" y="3108960"/>
            <a:ext cx="64008" cy="1828801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1"/>
          <p:cNvSpPr txBox="1"/>
          <p:nvPr/>
        </p:nvSpPr>
        <p:spPr>
          <a:xfrm>
            <a:off x="685800" y="3208527"/>
            <a:ext cx="3566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58" name="Text 12"/>
          <p:cNvSpPr txBox="1"/>
          <p:nvPr/>
        </p:nvSpPr>
        <p:spPr>
          <a:xfrm>
            <a:off x="685800" y="3908424"/>
            <a:ext cx="356616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5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PostgreSQL  ·  Supabase  ·  migrations  ·  seeds</a:t>
            </a:r>
          </a:p>
        </p:txBody>
      </p:sp>
      <p:sp>
        <p:nvSpPr>
          <p:cNvPr id="59" name="Shape 13"/>
          <p:cNvSpPr/>
          <p:nvPr/>
        </p:nvSpPr>
        <p:spPr>
          <a:xfrm>
            <a:off x="4846320" y="3108960"/>
            <a:ext cx="3931921" cy="1828801"/>
          </a:xfrm>
          <a:prstGeom prst="rect">
            <a:avLst/>
          </a:prstGeom>
          <a:solidFill>
            <a:srgbClr val="13131F"/>
          </a:solidFill>
          <a:ln w="19050">
            <a:solidFill>
              <a:srgbClr val="CBA6F7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" name="Shape 14"/>
          <p:cNvSpPr/>
          <p:nvPr/>
        </p:nvSpPr>
        <p:spPr>
          <a:xfrm>
            <a:off x="4846320" y="3108960"/>
            <a:ext cx="64009" cy="1828801"/>
          </a:xfrm>
          <a:prstGeom prst="rect">
            <a:avLst/>
          </a:prstGeom>
          <a:solidFill>
            <a:srgbClr val="CBA6F7"/>
          </a:solidFill>
          <a:ln w="12700">
            <a:solidFill>
              <a:srgbClr val="CBA6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5"/>
          <p:cNvSpPr txBox="1"/>
          <p:nvPr/>
        </p:nvSpPr>
        <p:spPr>
          <a:xfrm>
            <a:off x="5074920" y="3204077"/>
            <a:ext cx="3566160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CBA6F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협업 도구</a:t>
            </a:r>
          </a:p>
        </p:txBody>
      </p:sp>
      <p:sp>
        <p:nvSpPr>
          <p:cNvPr id="62" name="Text 16"/>
          <p:cNvSpPr txBox="1"/>
          <p:nvPr/>
        </p:nvSpPr>
        <p:spPr>
          <a:xfrm>
            <a:off x="5074920" y="3902776"/>
            <a:ext cx="3566160" cy="515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5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GitHub  ·  Jira  ·  feature 브랜치 전략  ·  PR &amp; Code Review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🏗️  시스템 아키텍처</a:t>
            </a:r>
          </a:p>
        </p:txBody>
      </p:sp>
      <p:sp>
        <p:nvSpPr>
          <p:cNvPr id="65" name="Shape 1"/>
          <p:cNvSpPr/>
          <p:nvPr/>
        </p:nvSpPr>
        <p:spPr>
          <a:xfrm>
            <a:off x="2286000" y="1005839"/>
            <a:ext cx="4572000" cy="548641"/>
          </a:xfrm>
          <a:prstGeom prst="rect">
            <a:avLst/>
          </a:prstGeom>
          <a:solidFill>
            <a:srgbClr val="13131F"/>
          </a:solidFill>
          <a:ln w="1905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Text 2"/>
          <p:cNvSpPr txBox="1"/>
          <p:nvPr/>
        </p:nvSpPr>
        <p:spPr>
          <a:xfrm>
            <a:off x="2331720" y="1128389"/>
            <a:ext cx="4480560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사용자 (브라우저)</a:t>
            </a:r>
          </a:p>
        </p:txBody>
      </p:sp>
      <p:sp>
        <p:nvSpPr>
          <p:cNvPr id="67" name="Shape 3"/>
          <p:cNvSpPr/>
          <p:nvPr/>
        </p:nvSpPr>
        <p:spPr>
          <a:xfrm>
            <a:off x="4572000" y="1554480"/>
            <a:ext cx="0" cy="457201"/>
          </a:xfrm>
          <a:prstGeom prst="line">
            <a:avLst/>
          </a:prstGeom>
          <a:ln w="19050">
            <a:solidFill>
              <a:srgbClr val="6C708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Shape 4"/>
          <p:cNvSpPr/>
          <p:nvPr/>
        </p:nvSpPr>
        <p:spPr>
          <a:xfrm>
            <a:off x="2286000" y="1920239"/>
            <a:ext cx="4572000" cy="548641"/>
          </a:xfrm>
          <a:prstGeom prst="rect">
            <a:avLst/>
          </a:prstGeom>
          <a:solidFill>
            <a:srgbClr val="13131F"/>
          </a:solidFill>
          <a:ln w="1905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" name="Text 5"/>
          <p:cNvSpPr txBox="1"/>
          <p:nvPr/>
        </p:nvSpPr>
        <p:spPr>
          <a:xfrm>
            <a:off x="2331720" y="2042790"/>
            <a:ext cx="4480560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React 프론트엔드  :5173</a:t>
            </a:r>
          </a:p>
        </p:txBody>
      </p:sp>
      <p:sp>
        <p:nvSpPr>
          <p:cNvPr id="70" name="Shape 6"/>
          <p:cNvSpPr/>
          <p:nvPr/>
        </p:nvSpPr>
        <p:spPr>
          <a:xfrm>
            <a:off x="4572000" y="2468879"/>
            <a:ext cx="0" cy="457201"/>
          </a:xfrm>
          <a:prstGeom prst="line">
            <a:avLst/>
          </a:prstGeom>
          <a:ln w="19050">
            <a:solidFill>
              <a:srgbClr val="6C708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7"/>
          <p:cNvSpPr/>
          <p:nvPr/>
        </p:nvSpPr>
        <p:spPr>
          <a:xfrm>
            <a:off x="2286000" y="2834639"/>
            <a:ext cx="4572000" cy="548641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" name="Text 8"/>
          <p:cNvSpPr txBox="1"/>
          <p:nvPr/>
        </p:nvSpPr>
        <p:spPr>
          <a:xfrm>
            <a:off x="2331720" y="2957190"/>
            <a:ext cx="4480560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Express 백엔드  :3000</a:t>
            </a:r>
          </a:p>
        </p:txBody>
      </p:sp>
      <p:sp>
        <p:nvSpPr>
          <p:cNvPr id="73" name="Shape 9"/>
          <p:cNvSpPr/>
          <p:nvPr/>
        </p:nvSpPr>
        <p:spPr>
          <a:xfrm>
            <a:off x="4572000" y="3383279"/>
            <a:ext cx="0" cy="457201"/>
          </a:xfrm>
          <a:prstGeom prst="line">
            <a:avLst/>
          </a:prstGeom>
          <a:ln w="19050">
            <a:solidFill>
              <a:srgbClr val="6C708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0"/>
          <p:cNvSpPr/>
          <p:nvPr/>
        </p:nvSpPr>
        <p:spPr>
          <a:xfrm>
            <a:off x="2286000" y="3749040"/>
            <a:ext cx="4572000" cy="548641"/>
          </a:xfrm>
          <a:prstGeom prst="rect">
            <a:avLst/>
          </a:prstGeom>
          <a:solidFill>
            <a:srgbClr val="13131F"/>
          </a:solidFill>
          <a:ln w="1905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Text 11"/>
          <p:cNvSpPr txBox="1"/>
          <p:nvPr/>
        </p:nvSpPr>
        <p:spPr>
          <a:xfrm>
            <a:off x="2331720" y="3871590"/>
            <a:ext cx="4480560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PostgreSQL (Supabase 클라우드)</a:t>
            </a:r>
          </a:p>
        </p:txBody>
      </p:sp>
      <p:sp>
        <p:nvSpPr>
          <p:cNvPr id="76" name="Shape 12"/>
          <p:cNvSpPr/>
          <p:nvPr/>
        </p:nvSpPr>
        <p:spPr>
          <a:xfrm>
            <a:off x="274319" y="1005839"/>
            <a:ext cx="1737362" cy="3291842"/>
          </a:xfrm>
          <a:prstGeom prst="rect">
            <a:avLst/>
          </a:prstGeom>
          <a:solidFill>
            <a:srgbClr val="13131F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3"/>
          <p:cNvSpPr txBox="1"/>
          <p:nvPr/>
        </p:nvSpPr>
        <p:spPr>
          <a:xfrm>
            <a:off x="320039" y="1063376"/>
            <a:ext cx="1645922" cy="25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API 목록</a:t>
            </a:r>
          </a:p>
        </p:txBody>
      </p:sp>
      <p:sp>
        <p:nvSpPr>
          <p:cNvPr id="78" name="Text 14"/>
          <p:cNvSpPr txBox="1"/>
          <p:nvPr/>
        </p:nvSpPr>
        <p:spPr>
          <a:xfrm>
            <a:off x="365759" y="1865630"/>
            <a:ext cx="1554482" cy="1572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60000"/>
              </a:lnSpc>
              <a:defRPr sz="9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GET /stages</a:t>
            </a:r>
          </a:p>
          <a:p>
            <a:pPr>
              <a:lnSpc>
                <a:spcPct val="160000"/>
              </a:lnSpc>
              <a:defRPr sz="9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GET /stages/:id</a:t>
            </a:r>
          </a:p>
          <a:p>
            <a:pPr>
              <a:lnSpc>
                <a:spcPct val="160000"/>
              </a:lnSpc>
              <a:defRPr sz="9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POST /stages/:id/submit</a:t>
            </a:r>
          </a:p>
          <a:p>
            <a:pPr>
              <a:lnSpc>
                <a:spcPct val="160000"/>
              </a:lnSpc>
              <a:defRPr sz="9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POST /users/login</a:t>
            </a:r>
          </a:p>
          <a:p>
            <a:pPr>
              <a:lnSpc>
                <a:spcPct val="160000"/>
              </a:lnSpc>
              <a:defRPr sz="9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PATCH /users/:id/progress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🎮  주요 기능</a:t>
            </a:r>
          </a:p>
        </p:txBody>
      </p:sp>
      <p:sp>
        <p:nvSpPr>
          <p:cNvPr id="81" name="Shape 1"/>
          <p:cNvSpPr/>
          <p:nvPr/>
        </p:nvSpPr>
        <p:spPr>
          <a:xfrm>
            <a:off x="457199" y="1005839"/>
            <a:ext cx="2560322" cy="1645922"/>
          </a:xfrm>
          <a:prstGeom prst="rect">
            <a:avLst/>
          </a:prstGeom>
          <a:solidFill>
            <a:srgbClr val="13131F"/>
          </a:solidFill>
          <a:ln w="1270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" name="Text 2"/>
          <p:cNvSpPr txBox="1"/>
          <p:nvPr/>
        </p:nvSpPr>
        <p:spPr>
          <a:xfrm>
            <a:off x="640079" y="1123949"/>
            <a:ext cx="219456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🔐  로그인</a:t>
            </a:r>
          </a:p>
        </p:txBody>
      </p:sp>
      <p:sp>
        <p:nvSpPr>
          <p:cNvPr id="83" name="Shape 3"/>
          <p:cNvSpPr/>
          <p:nvPr/>
        </p:nvSpPr>
        <p:spPr>
          <a:xfrm>
            <a:off x="594359" y="1506982"/>
            <a:ext cx="2286001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4"/>
          <p:cNvSpPr txBox="1"/>
          <p:nvPr/>
        </p:nvSpPr>
        <p:spPr>
          <a:xfrm>
            <a:off x="640079" y="1758802"/>
            <a:ext cx="2194562" cy="50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닉네임 입력 후 시작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진행상황 자동 저장</a:t>
            </a:r>
          </a:p>
        </p:txBody>
      </p:sp>
      <p:sp>
        <p:nvSpPr>
          <p:cNvPr id="85" name="Shape 5"/>
          <p:cNvSpPr/>
          <p:nvPr/>
        </p:nvSpPr>
        <p:spPr>
          <a:xfrm>
            <a:off x="3291840" y="1005839"/>
            <a:ext cx="2560321" cy="1645922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" name="Text 6"/>
          <p:cNvSpPr txBox="1"/>
          <p:nvPr/>
        </p:nvSpPr>
        <p:spPr>
          <a:xfrm>
            <a:off x="3474720" y="1123949"/>
            <a:ext cx="21945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📋  스테이지 목록</a:t>
            </a:r>
          </a:p>
        </p:txBody>
      </p:sp>
      <p:sp>
        <p:nvSpPr>
          <p:cNvPr id="87" name="Shape 7"/>
          <p:cNvSpPr/>
          <p:nvPr/>
        </p:nvSpPr>
        <p:spPr>
          <a:xfrm>
            <a:off x="3429000" y="1506982"/>
            <a:ext cx="2286000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8"/>
          <p:cNvSpPr txBox="1"/>
          <p:nvPr/>
        </p:nvSpPr>
        <p:spPr>
          <a:xfrm>
            <a:off x="3474720" y="1758802"/>
            <a:ext cx="2194561" cy="50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전체 스테이지 한눈에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완료/진행/잠금 표시</a:t>
            </a:r>
          </a:p>
        </p:txBody>
      </p:sp>
      <p:sp>
        <p:nvSpPr>
          <p:cNvPr id="89" name="Shape 9"/>
          <p:cNvSpPr/>
          <p:nvPr/>
        </p:nvSpPr>
        <p:spPr>
          <a:xfrm>
            <a:off x="6126479" y="1005839"/>
            <a:ext cx="2560321" cy="1645922"/>
          </a:xfrm>
          <a:prstGeom prst="rect">
            <a:avLst/>
          </a:prstGeom>
          <a:solidFill>
            <a:srgbClr val="13131F"/>
          </a:solidFill>
          <a:ln w="1270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" name="Text 10"/>
          <p:cNvSpPr txBox="1"/>
          <p:nvPr/>
        </p:nvSpPr>
        <p:spPr>
          <a:xfrm>
            <a:off x="6309360" y="1123949"/>
            <a:ext cx="21945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💻  터미널 UI</a:t>
            </a:r>
          </a:p>
        </p:txBody>
      </p:sp>
      <p:sp>
        <p:nvSpPr>
          <p:cNvPr id="91" name="Shape 11"/>
          <p:cNvSpPr/>
          <p:nvPr/>
        </p:nvSpPr>
        <p:spPr>
          <a:xfrm>
            <a:off x="6263640" y="1506982"/>
            <a:ext cx="2286001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2"/>
          <p:cNvSpPr txBox="1"/>
          <p:nvPr/>
        </p:nvSpPr>
        <p:spPr>
          <a:xfrm>
            <a:off x="6309360" y="1758802"/>
            <a:ext cx="2194561" cy="50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VS Code 스타일 터미널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실제처럼 명령어 입력</a:t>
            </a:r>
          </a:p>
        </p:txBody>
      </p:sp>
      <p:sp>
        <p:nvSpPr>
          <p:cNvPr id="93" name="Shape 13"/>
          <p:cNvSpPr/>
          <p:nvPr/>
        </p:nvSpPr>
        <p:spPr>
          <a:xfrm>
            <a:off x="457199" y="2926079"/>
            <a:ext cx="2560322" cy="1645921"/>
          </a:xfrm>
          <a:prstGeom prst="rect">
            <a:avLst/>
          </a:prstGeom>
          <a:solidFill>
            <a:srgbClr val="13131F"/>
          </a:solidFill>
          <a:ln w="12700">
            <a:solidFill>
              <a:srgbClr val="CBA6F7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" name="Text 14"/>
          <p:cNvSpPr txBox="1"/>
          <p:nvPr/>
        </p:nvSpPr>
        <p:spPr>
          <a:xfrm>
            <a:off x="640079" y="3044190"/>
            <a:ext cx="219456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CBA6F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✅  채점 시스템</a:t>
            </a:r>
          </a:p>
        </p:txBody>
      </p:sp>
      <p:sp>
        <p:nvSpPr>
          <p:cNvPr id="95" name="Shape 15"/>
          <p:cNvSpPr/>
          <p:nvPr/>
        </p:nvSpPr>
        <p:spPr>
          <a:xfrm>
            <a:off x="594359" y="3427221"/>
            <a:ext cx="2286001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16"/>
          <p:cNvSpPr txBox="1"/>
          <p:nvPr/>
        </p:nvSpPr>
        <p:spPr>
          <a:xfrm>
            <a:off x="640079" y="3679043"/>
            <a:ext cx="2194562" cy="50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정확 일치 + 정규식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Git 시뮬레이션 엔진</a:t>
            </a:r>
          </a:p>
        </p:txBody>
      </p:sp>
      <p:sp>
        <p:nvSpPr>
          <p:cNvPr id="97" name="Shape 17"/>
          <p:cNvSpPr/>
          <p:nvPr/>
        </p:nvSpPr>
        <p:spPr>
          <a:xfrm>
            <a:off x="3291840" y="2926079"/>
            <a:ext cx="2560321" cy="1645921"/>
          </a:xfrm>
          <a:prstGeom prst="rect">
            <a:avLst/>
          </a:prstGeom>
          <a:solidFill>
            <a:srgbClr val="13131F"/>
          </a:solidFill>
          <a:ln w="1270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Text 18"/>
          <p:cNvSpPr txBox="1"/>
          <p:nvPr/>
        </p:nvSpPr>
        <p:spPr>
          <a:xfrm>
            <a:off x="3474720" y="3044190"/>
            <a:ext cx="21945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💡  힌트 모달</a:t>
            </a:r>
          </a:p>
        </p:txBody>
      </p:sp>
      <p:sp>
        <p:nvSpPr>
          <p:cNvPr id="99" name="Shape 19"/>
          <p:cNvSpPr/>
          <p:nvPr/>
        </p:nvSpPr>
        <p:spPr>
          <a:xfrm>
            <a:off x="3429000" y="3427221"/>
            <a:ext cx="2286000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20"/>
          <p:cNvSpPr txBox="1"/>
          <p:nvPr/>
        </p:nvSpPr>
        <p:spPr>
          <a:xfrm>
            <a:off x="3474720" y="3679043"/>
            <a:ext cx="2194561" cy="50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틀렸을 때 힌트 팝업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스테이지 이동 시 초기화</a:t>
            </a:r>
          </a:p>
        </p:txBody>
      </p:sp>
      <p:sp>
        <p:nvSpPr>
          <p:cNvPr id="101" name="Shape 21"/>
          <p:cNvSpPr/>
          <p:nvPr/>
        </p:nvSpPr>
        <p:spPr>
          <a:xfrm>
            <a:off x="6126479" y="2926079"/>
            <a:ext cx="2560321" cy="164592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" name="Text 22"/>
          <p:cNvSpPr txBox="1"/>
          <p:nvPr/>
        </p:nvSpPr>
        <p:spPr>
          <a:xfrm>
            <a:off x="6309360" y="3044190"/>
            <a:ext cx="21945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🏆  완료 화면</a:t>
            </a:r>
          </a:p>
        </p:txBody>
      </p:sp>
      <p:sp>
        <p:nvSpPr>
          <p:cNvPr id="103" name="Shape 23"/>
          <p:cNvSpPr/>
          <p:nvPr/>
        </p:nvSpPr>
        <p:spPr>
          <a:xfrm>
            <a:off x="6263640" y="3427221"/>
            <a:ext cx="2286001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24"/>
          <p:cNvSpPr txBox="1"/>
          <p:nvPr/>
        </p:nvSpPr>
        <p:spPr>
          <a:xfrm>
            <a:off x="6309360" y="3679043"/>
            <a:ext cx="2194561" cy="50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모든 스테이지 클리어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최종 점수 &amp; 다시 시작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 txBox="1"/>
          <p:nvPr/>
        </p:nvSpPr>
        <p:spPr>
          <a:xfrm>
            <a:off x="457200" y="322579"/>
            <a:ext cx="82296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⚡  채점 시스템 &amp; Git 시뮬레이터</a:t>
            </a:r>
          </a:p>
        </p:txBody>
      </p:sp>
      <p:sp>
        <p:nvSpPr>
          <p:cNvPr id="107" name="Shape 1"/>
          <p:cNvSpPr/>
          <p:nvPr/>
        </p:nvSpPr>
        <p:spPr>
          <a:xfrm>
            <a:off x="457199" y="960119"/>
            <a:ext cx="3931922" cy="3474722"/>
          </a:xfrm>
          <a:prstGeom prst="rect">
            <a:avLst/>
          </a:prstGeom>
          <a:solidFill>
            <a:srgbClr val="13131F"/>
          </a:solidFill>
          <a:ln w="1905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Shape 2"/>
          <p:cNvSpPr/>
          <p:nvPr/>
        </p:nvSpPr>
        <p:spPr>
          <a:xfrm>
            <a:off x="457199" y="960119"/>
            <a:ext cx="3931922" cy="347473"/>
          </a:xfrm>
          <a:prstGeom prst="rect">
            <a:avLst/>
          </a:prstGeom>
          <a:solidFill>
            <a:srgbClr val="1A2A3A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3"/>
          <p:cNvSpPr txBox="1"/>
          <p:nvPr/>
        </p:nvSpPr>
        <p:spPr>
          <a:xfrm>
            <a:off x="640079" y="959358"/>
            <a:ext cx="35661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📝  채점 방식</a:t>
            </a:r>
          </a:p>
        </p:txBody>
      </p:sp>
      <p:sp>
        <p:nvSpPr>
          <p:cNvPr id="110" name="Text 4"/>
          <p:cNvSpPr txBox="1"/>
          <p:nvPr/>
        </p:nvSpPr>
        <p:spPr>
          <a:xfrm>
            <a:off x="640079" y="1800988"/>
            <a:ext cx="3566161" cy="2067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b="1"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1. 정확 일치 채점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입력: git init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정답: git init  →  ✅</a:t>
            </a:r>
          </a:p>
          <a:p>
            <a:pPr>
              <a:lnSpc>
                <a:spcPct val="140000"/>
              </a:lnSpc>
              <a:defRPr sz="1100"/>
            </a:pPr>
          </a:p>
          <a:p>
            <a:pPr>
              <a:lnSpc>
                <a:spcPct val="140000"/>
              </a:lnSpc>
              <a:defRPr b="1"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2. 정규식 채점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입력: git commit -m "hello"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정규식: ^git commit -m ".+"$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→  ✅ (메시지 자유롭게)</a:t>
            </a:r>
          </a:p>
        </p:txBody>
      </p:sp>
      <p:sp>
        <p:nvSpPr>
          <p:cNvPr id="111" name="Shape 5"/>
          <p:cNvSpPr/>
          <p:nvPr/>
        </p:nvSpPr>
        <p:spPr>
          <a:xfrm>
            <a:off x="4754879" y="960119"/>
            <a:ext cx="3931921" cy="3474722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Shape 6"/>
          <p:cNvSpPr/>
          <p:nvPr/>
        </p:nvSpPr>
        <p:spPr>
          <a:xfrm>
            <a:off x="4754879" y="960119"/>
            <a:ext cx="3931921" cy="347473"/>
          </a:xfrm>
          <a:prstGeom prst="rect">
            <a:avLst/>
          </a:prstGeom>
          <a:solidFill>
            <a:srgbClr val="1A3A2A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7"/>
          <p:cNvSpPr txBox="1"/>
          <p:nvPr/>
        </p:nvSpPr>
        <p:spPr>
          <a:xfrm>
            <a:off x="4937760" y="959358"/>
            <a:ext cx="35661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🔧  Git 시뮬레이션 엔진</a:t>
            </a:r>
          </a:p>
        </p:txBody>
      </p:sp>
      <p:sp>
        <p:nvSpPr>
          <p:cNvPr id="114" name="Text 8"/>
          <p:cNvSpPr txBox="1"/>
          <p:nvPr/>
        </p:nvSpPr>
        <p:spPr>
          <a:xfrm>
            <a:off x="4937760" y="1609921"/>
            <a:ext cx="3566161" cy="244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b="1"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유저별 가상 Git 상태 메모리 유지</a:t>
            </a:r>
          </a:p>
          <a:p>
            <a:pPr>
              <a:lnSpc>
                <a:spcPct val="140000"/>
              </a:lnSpc>
              <a:defRPr sz="1100"/>
            </a:pP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상태 관리 항목: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• initialized (초기화 여부)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• stagedFiles (스테이지 파일)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• commits (커밋 히스토리)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• branch (현재 브랜치)</a:t>
            </a:r>
          </a:p>
          <a:p>
            <a:pPr>
              <a:lnSpc>
                <a:spcPct val="140000"/>
              </a:lnSpc>
              <a:defRPr sz="1100"/>
            </a:pP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순서 틀리면 에러 출력:</a:t>
            </a:r>
          </a:p>
          <a:p>
            <a:pPr>
              <a:lnSpc>
                <a:spcPct val="140000"/>
              </a:lnSpc>
              <a:defRPr sz="11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❌ fatal: not a git repository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🗄️  DB 설계</a:t>
            </a:r>
          </a:p>
        </p:txBody>
      </p:sp>
      <p:sp>
        <p:nvSpPr>
          <p:cNvPr id="117" name="Shape 1"/>
          <p:cNvSpPr/>
          <p:nvPr/>
        </p:nvSpPr>
        <p:spPr>
          <a:xfrm>
            <a:off x="457199" y="960119"/>
            <a:ext cx="3931922" cy="3474722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Shape 2"/>
          <p:cNvSpPr/>
          <p:nvPr/>
        </p:nvSpPr>
        <p:spPr>
          <a:xfrm>
            <a:off x="457199" y="960119"/>
            <a:ext cx="3931922" cy="347473"/>
          </a:xfrm>
          <a:prstGeom prst="rect">
            <a:avLst/>
          </a:prstGeom>
          <a:solidFill>
            <a:srgbClr val="1A3A2A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3"/>
          <p:cNvSpPr txBox="1"/>
          <p:nvPr/>
        </p:nvSpPr>
        <p:spPr>
          <a:xfrm>
            <a:off x="640079" y="986657"/>
            <a:ext cx="3566161" cy="30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stages 테이블</a:t>
            </a:r>
          </a:p>
        </p:txBody>
      </p:sp>
      <p:graphicFrame>
        <p:nvGraphicFramePr>
          <p:cNvPr id="120" name="Table 0"/>
          <p:cNvGraphicFramePr/>
          <p:nvPr/>
        </p:nvGraphicFramePr>
        <p:xfrm>
          <a:off x="548640" y="1417319"/>
          <a:ext cx="3749041" cy="28346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1737360"/>
              </a:tblGrid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C708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컬럼명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C708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타입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integer (PK)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description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answer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answer_regex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hint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difficulty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created_at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datetime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</a:tbl>
          </a:graphicData>
        </a:graphic>
      </p:graphicFrame>
      <p:sp>
        <p:nvSpPr>
          <p:cNvPr id="121" name="Shape 4"/>
          <p:cNvSpPr/>
          <p:nvPr/>
        </p:nvSpPr>
        <p:spPr>
          <a:xfrm>
            <a:off x="4754879" y="960119"/>
            <a:ext cx="3931921" cy="3474722"/>
          </a:xfrm>
          <a:prstGeom prst="rect">
            <a:avLst/>
          </a:prstGeom>
          <a:solidFill>
            <a:srgbClr val="13131F"/>
          </a:solidFill>
          <a:ln w="1905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Shape 5"/>
          <p:cNvSpPr/>
          <p:nvPr/>
        </p:nvSpPr>
        <p:spPr>
          <a:xfrm>
            <a:off x="4754879" y="960119"/>
            <a:ext cx="3931921" cy="347473"/>
          </a:xfrm>
          <a:prstGeom prst="rect">
            <a:avLst/>
          </a:prstGeom>
          <a:solidFill>
            <a:srgbClr val="2A2A1A"/>
          </a:solidFill>
          <a:ln w="12700">
            <a:solidFill>
              <a:srgbClr val="F9E2A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6"/>
          <p:cNvSpPr txBox="1"/>
          <p:nvPr/>
        </p:nvSpPr>
        <p:spPr>
          <a:xfrm>
            <a:off x="4937760" y="986657"/>
            <a:ext cx="3566161" cy="30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users 테이블</a:t>
            </a:r>
          </a:p>
        </p:txBody>
      </p:sp>
      <p:graphicFrame>
        <p:nvGraphicFramePr>
          <p:cNvPr id="124" name="Table 1"/>
          <p:cNvGraphicFramePr/>
          <p:nvPr/>
        </p:nvGraphicFramePr>
        <p:xfrm>
          <a:off x="4846320" y="1417319"/>
          <a:ext cx="3749041" cy="1828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1737360"/>
              </a:tblGrid>
              <a:tr h="304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C708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컬럼명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6C708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타입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integer (PK)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username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current_stage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integer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score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integer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created_at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CDD6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datetime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3D"/>
                      </a:solidFill>
                    </a:lnL>
                    <a:lnR w="6350">
                      <a:solidFill>
                        <a:srgbClr val="2A2A3D"/>
                      </a:solidFill>
                    </a:lnR>
                    <a:lnT w="6350">
                      <a:solidFill>
                        <a:srgbClr val="2A2A3D"/>
                      </a:solidFill>
                    </a:lnT>
                    <a:lnB w="6350">
                      <a:solidFill>
                        <a:srgbClr val="2A2A3D"/>
                      </a:solidFill>
                    </a:lnB>
                    <a:solidFill>
                      <a:srgbClr val="13131F"/>
                    </a:solidFill>
                  </a:tcPr>
                </a:tc>
              </a:tr>
            </a:tbl>
          </a:graphicData>
        </a:graphic>
      </p:graphicFrame>
      <p:sp>
        <p:nvSpPr>
          <p:cNvPr id="125" name="Shape 7"/>
          <p:cNvSpPr/>
          <p:nvPr/>
        </p:nvSpPr>
        <p:spPr>
          <a:xfrm>
            <a:off x="4754879" y="3383279"/>
            <a:ext cx="3931921" cy="1051561"/>
          </a:xfrm>
          <a:prstGeom prst="rect">
            <a:avLst/>
          </a:prstGeom>
          <a:solidFill>
            <a:srgbClr val="13131F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8"/>
          <p:cNvSpPr txBox="1"/>
          <p:nvPr/>
        </p:nvSpPr>
        <p:spPr>
          <a:xfrm>
            <a:off x="4937760" y="3498254"/>
            <a:ext cx="3566161" cy="775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☁️  Supabase 클라우드 PostgreSQL</a:t>
            </a:r>
          </a:p>
          <a:p>
            <a:pPr>
              <a:lnSpc>
                <a:spcPct val="140000"/>
              </a:lnSpc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팀원 모두 같은 DB 공유</a:t>
            </a:r>
          </a:p>
          <a:p>
            <a:pPr>
              <a:lnSpc>
                <a:spcPct val="140000"/>
              </a:lnSpc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.env로 연결 정보 관리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🌿  브랜치 전략</a:t>
            </a:r>
          </a:p>
        </p:txBody>
      </p:sp>
      <p:sp>
        <p:nvSpPr>
          <p:cNvPr id="129" name="Shape 1"/>
          <p:cNvSpPr/>
          <p:nvPr/>
        </p:nvSpPr>
        <p:spPr>
          <a:xfrm>
            <a:off x="3383279" y="1005839"/>
            <a:ext cx="1463041" cy="411481"/>
          </a:xfrm>
          <a:prstGeom prst="rect">
            <a:avLst/>
          </a:prstGeom>
          <a:solidFill>
            <a:srgbClr val="13131F"/>
          </a:solidFill>
          <a:ln w="19050">
            <a:solidFill>
              <a:srgbClr val="F38BA8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Text 2"/>
          <p:cNvSpPr txBox="1"/>
          <p:nvPr/>
        </p:nvSpPr>
        <p:spPr>
          <a:xfrm>
            <a:off x="3429000" y="1076959"/>
            <a:ext cx="1371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38B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main</a:t>
            </a:r>
          </a:p>
        </p:txBody>
      </p:sp>
      <p:sp>
        <p:nvSpPr>
          <p:cNvPr id="131" name="Text 3"/>
          <p:cNvSpPr txBox="1"/>
          <p:nvPr/>
        </p:nvSpPr>
        <p:spPr>
          <a:xfrm>
            <a:off x="4983479" y="1090808"/>
            <a:ext cx="2651761" cy="25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최종 제출본</a:t>
            </a:r>
          </a:p>
        </p:txBody>
      </p:sp>
      <p:sp>
        <p:nvSpPr>
          <p:cNvPr id="132" name="Shape 4"/>
          <p:cNvSpPr/>
          <p:nvPr/>
        </p:nvSpPr>
        <p:spPr>
          <a:xfrm>
            <a:off x="3383279" y="1828800"/>
            <a:ext cx="1463041" cy="411481"/>
          </a:xfrm>
          <a:prstGeom prst="rect">
            <a:avLst/>
          </a:prstGeom>
          <a:solidFill>
            <a:srgbClr val="13131F"/>
          </a:solidFill>
          <a:ln w="1905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" name="Text 5"/>
          <p:cNvSpPr txBox="1"/>
          <p:nvPr/>
        </p:nvSpPr>
        <p:spPr>
          <a:xfrm>
            <a:off x="3429000" y="1899919"/>
            <a:ext cx="1371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develop</a:t>
            </a:r>
          </a:p>
        </p:txBody>
      </p:sp>
      <p:sp>
        <p:nvSpPr>
          <p:cNvPr id="134" name="Text 6"/>
          <p:cNvSpPr txBox="1"/>
          <p:nvPr/>
        </p:nvSpPr>
        <p:spPr>
          <a:xfrm>
            <a:off x="4983479" y="1913768"/>
            <a:ext cx="2651761" cy="25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통합 브랜치</a:t>
            </a:r>
          </a:p>
        </p:txBody>
      </p:sp>
      <p:sp>
        <p:nvSpPr>
          <p:cNvPr id="135" name="Shape 7"/>
          <p:cNvSpPr/>
          <p:nvPr/>
        </p:nvSpPr>
        <p:spPr>
          <a:xfrm>
            <a:off x="4114799" y="1417319"/>
            <a:ext cx="1" cy="411481"/>
          </a:xfrm>
          <a:prstGeom prst="line">
            <a:avLst/>
          </a:prstGeom>
          <a:ln w="12700">
            <a:solidFill>
              <a:srgbClr val="6C708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8"/>
          <p:cNvSpPr/>
          <p:nvPr/>
        </p:nvSpPr>
        <p:spPr>
          <a:xfrm>
            <a:off x="457200" y="2651760"/>
            <a:ext cx="3840480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Text 9"/>
          <p:cNvSpPr txBox="1"/>
          <p:nvPr/>
        </p:nvSpPr>
        <p:spPr>
          <a:xfrm>
            <a:off x="640079" y="2752090"/>
            <a:ext cx="3566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feature/backend</a:t>
            </a:r>
          </a:p>
        </p:txBody>
      </p:sp>
      <p:sp>
        <p:nvSpPr>
          <p:cNvPr id="138" name="Shape 10"/>
          <p:cNvSpPr/>
          <p:nvPr/>
        </p:nvSpPr>
        <p:spPr>
          <a:xfrm>
            <a:off x="4846320" y="2651760"/>
            <a:ext cx="3840480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" name="Text 11"/>
          <p:cNvSpPr txBox="1"/>
          <p:nvPr/>
        </p:nvSpPr>
        <p:spPr>
          <a:xfrm>
            <a:off x="5029200" y="2752090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feature/frontend</a:t>
            </a:r>
          </a:p>
        </p:txBody>
      </p:sp>
      <p:sp>
        <p:nvSpPr>
          <p:cNvPr id="140" name="Shape 12"/>
          <p:cNvSpPr/>
          <p:nvPr/>
        </p:nvSpPr>
        <p:spPr>
          <a:xfrm>
            <a:off x="457200" y="3337559"/>
            <a:ext cx="3840480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CBA6F7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Text 13"/>
          <p:cNvSpPr txBox="1"/>
          <p:nvPr/>
        </p:nvSpPr>
        <p:spPr>
          <a:xfrm>
            <a:off x="640079" y="3437889"/>
            <a:ext cx="3566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BA6F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feature/stage-clear</a:t>
            </a:r>
          </a:p>
        </p:txBody>
      </p:sp>
      <p:sp>
        <p:nvSpPr>
          <p:cNvPr id="142" name="Shape 14"/>
          <p:cNvSpPr/>
          <p:nvPr/>
        </p:nvSpPr>
        <p:spPr>
          <a:xfrm>
            <a:off x="4846320" y="3337559"/>
            <a:ext cx="3840480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CBA6F7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Text 15"/>
          <p:cNvSpPr txBox="1"/>
          <p:nvPr/>
        </p:nvSpPr>
        <p:spPr>
          <a:xfrm>
            <a:off x="5029200" y="3437889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BA6F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feature/stage-list</a:t>
            </a:r>
          </a:p>
        </p:txBody>
      </p:sp>
      <p:sp>
        <p:nvSpPr>
          <p:cNvPr id="144" name="Shape 16"/>
          <p:cNvSpPr/>
          <p:nvPr/>
        </p:nvSpPr>
        <p:spPr>
          <a:xfrm>
            <a:off x="457200" y="4023359"/>
            <a:ext cx="3840480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Text 17"/>
          <p:cNvSpPr txBox="1"/>
          <p:nvPr/>
        </p:nvSpPr>
        <p:spPr>
          <a:xfrm>
            <a:off x="640079" y="4123689"/>
            <a:ext cx="3566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feature/hint-modal</a:t>
            </a:r>
          </a:p>
        </p:txBody>
      </p:sp>
      <p:sp>
        <p:nvSpPr>
          <p:cNvPr id="146" name="Shape 18"/>
          <p:cNvSpPr/>
          <p:nvPr/>
        </p:nvSpPr>
        <p:spPr>
          <a:xfrm>
            <a:off x="4846320" y="4023359"/>
            <a:ext cx="3840480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" name="Text 19"/>
          <p:cNvSpPr txBox="1"/>
          <p:nvPr/>
        </p:nvSpPr>
        <p:spPr>
          <a:xfrm>
            <a:off x="5029200" y="4123689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feature/animations</a:t>
            </a:r>
          </a:p>
        </p:txBody>
      </p:sp>
      <p:sp>
        <p:nvSpPr>
          <p:cNvPr id="148" name="Shape 20"/>
          <p:cNvSpPr/>
          <p:nvPr/>
        </p:nvSpPr>
        <p:spPr>
          <a:xfrm>
            <a:off x="4114799" y="2240279"/>
            <a:ext cx="1" cy="411481"/>
          </a:xfrm>
          <a:prstGeom prst="line">
            <a:avLst/>
          </a:prstGeom>
          <a:ln w="12700">
            <a:solidFill>
              <a:srgbClr val="6C708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21"/>
          <p:cNvSpPr txBox="1"/>
          <p:nvPr/>
        </p:nvSpPr>
        <p:spPr>
          <a:xfrm>
            <a:off x="502919" y="4690708"/>
            <a:ext cx="8138161" cy="265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feature 브랜치  →  PR 생성  →  코드 리뷰  →  develop merge  →  main merge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👥  역할 분담</a:t>
            </a:r>
          </a:p>
        </p:txBody>
      </p:sp>
      <p:sp>
        <p:nvSpPr>
          <p:cNvPr id="152" name="Shape 1"/>
          <p:cNvSpPr/>
          <p:nvPr/>
        </p:nvSpPr>
        <p:spPr>
          <a:xfrm>
            <a:off x="457199" y="960119"/>
            <a:ext cx="2560322" cy="3840481"/>
          </a:xfrm>
          <a:prstGeom prst="rect">
            <a:avLst/>
          </a:prstGeom>
          <a:solidFill>
            <a:srgbClr val="13131F"/>
          </a:solidFill>
          <a:ln w="1905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Shape 2"/>
          <p:cNvSpPr/>
          <p:nvPr/>
        </p:nvSpPr>
        <p:spPr>
          <a:xfrm>
            <a:off x="457199" y="960119"/>
            <a:ext cx="2560322" cy="365761"/>
          </a:xfrm>
          <a:prstGeom prst="rect">
            <a:avLst/>
          </a:prstGeom>
          <a:solidFill>
            <a:srgbClr val="13131F"/>
          </a:solidFill>
          <a:ln w="12700">
            <a:solidFill>
              <a:srgbClr val="89B4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3"/>
          <p:cNvSpPr txBox="1"/>
          <p:nvPr/>
        </p:nvSpPr>
        <p:spPr>
          <a:xfrm>
            <a:off x="640079" y="1014089"/>
            <a:ext cx="2194562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백엔드 + 프론트 : 강희전</a:t>
            </a:r>
          </a:p>
        </p:txBody>
      </p:sp>
      <p:sp>
        <p:nvSpPr>
          <p:cNvPr id="155" name="Shape 4"/>
          <p:cNvSpPr/>
          <p:nvPr/>
        </p:nvSpPr>
        <p:spPr>
          <a:xfrm>
            <a:off x="594359" y="1369822"/>
            <a:ext cx="2286001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5"/>
          <p:cNvSpPr txBox="1"/>
          <p:nvPr/>
        </p:nvSpPr>
        <p:spPr>
          <a:xfrm>
            <a:off x="640079" y="2295003"/>
            <a:ext cx="2194562" cy="1445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Express API 설계 및 구현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Supabase DB 연결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Git 시뮬레이션 엔진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터미널 UI 구현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게임 화면 전체 개발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힌트 모달 &amp; 애니메이션</a:t>
            </a:r>
          </a:p>
        </p:txBody>
      </p:sp>
      <p:sp>
        <p:nvSpPr>
          <p:cNvPr id="157" name="Shape 6"/>
          <p:cNvSpPr/>
          <p:nvPr/>
        </p:nvSpPr>
        <p:spPr>
          <a:xfrm>
            <a:off x="3291840" y="960119"/>
            <a:ext cx="2560321" cy="3840481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Shape 7"/>
          <p:cNvSpPr/>
          <p:nvPr/>
        </p:nvSpPr>
        <p:spPr>
          <a:xfrm>
            <a:off x="3291840" y="960119"/>
            <a:ext cx="2560321" cy="36576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8"/>
          <p:cNvSpPr txBox="1"/>
          <p:nvPr/>
        </p:nvSpPr>
        <p:spPr>
          <a:xfrm>
            <a:off x="3474720" y="1014089"/>
            <a:ext cx="2194561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DB 데이터 : 황상하</a:t>
            </a:r>
          </a:p>
        </p:txBody>
      </p:sp>
      <p:sp>
        <p:nvSpPr>
          <p:cNvPr id="160" name="Shape 9"/>
          <p:cNvSpPr/>
          <p:nvPr/>
        </p:nvSpPr>
        <p:spPr>
          <a:xfrm>
            <a:off x="3429000" y="1369822"/>
            <a:ext cx="2286000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0"/>
          <p:cNvSpPr txBox="1"/>
          <p:nvPr/>
        </p:nvSpPr>
        <p:spPr>
          <a:xfrm>
            <a:off x="3474720" y="2414438"/>
            <a:ext cx="2194561" cy="1206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스테이지 데이터 작성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난이도별 구성 (기초/중급/심화)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seeds 파일 관리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migrations 설계</a:t>
            </a:r>
          </a:p>
        </p:txBody>
      </p:sp>
      <p:sp>
        <p:nvSpPr>
          <p:cNvPr id="162" name="Shape 11"/>
          <p:cNvSpPr/>
          <p:nvPr/>
        </p:nvSpPr>
        <p:spPr>
          <a:xfrm>
            <a:off x="6126479" y="960119"/>
            <a:ext cx="2560321" cy="3840481"/>
          </a:xfrm>
          <a:prstGeom prst="rect">
            <a:avLst/>
          </a:prstGeom>
          <a:solidFill>
            <a:srgbClr val="13131F"/>
          </a:solidFill>
          <a:ln w="19050">
            <a:solidFill>
              <a:srgbClr val="CBA6F7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Shape 12"/>
          <p:cNvSpPr/>
          <p:nvPr/>
        </p:nvSpPr>
        <p:spPr>
          <a:xfrm>
            <a:off x="6126479" y="960119"/>
            <a:ext cx="2560321" cy="365761"/>
          </a:xfrm>
          <a:prstGeom prst="rect">
            <a:avLst/>
          </a:prstGeom>
          <a:solidFill>
            <a:srgbClr val="13131F"/>
          </a:solidFill>
          <a:ln w="12700">
            <a:solidFill>
              <a:srgbClr val="CBA6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13"/>
          <p:cNvSpPr txBox="1"/>
          <p:nvPr/>
        </p:nvSpPr>
        <p:spPr>
          <a:xfrm>
            <a:off x="6309360" y="1014089"/>
            <a:ext cx="2194561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CBA6F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UI/UX 디자인 : 이승재</a:t>
            </a:r>
          </a:p>
        </p:txBody>
      </p:sp>
      <p:sp>
        <p:nvSpPr>
          <p:cNvPr id="165" name="Shape 14"/>
          <p:cNvSpPr/>
          <p:nvPr/>
        </p:nvSpPr>
        <p:spPr>
          <a:xfrm>
            <a:off x="6263640" y="1369822"/>
            <a:ext cx="2286001" cy="1270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5"/>
          <p:cNvSpPr txBox="1"/>
          <p:nvPr/>
        </p:nvSpPr>
        <p:spPr>
          <a:xfrm>
            <a:off x="6309360" y="2533872"/>
            <a:ext cx="2194561" cy="967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전체 컬러 테마 통일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로그인 페이지 디자인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게임 화면 디자인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컴포넌트 스타일 정리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📅 진행사항</a:t>
            </a:r>
          </a:p>
        </p:txBody>
      </p:sp>
      <p:sp>
        <p:nvSpPr>
          <p:cNvPr id="169" name="Shape 18"/>
          <p:cNvSpPr/>
          <p:nvPr/>
        </p:nvSpPr>
        <p:spPr>
          <a:xfrm>
            <a:off x="457200" y="880513"/>
            <a:ext cx="1935653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Text 19"/>
          <p:cNvSpPr txBox="1"/>
          <p:nvPr/>
        </p:nvSpPr>
        <p:spPr>
          <a:xfrm>
            <a:off x="638492" y="1503032"/>
            <a:ext cx="3566161" cy="26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UI 핵심 라이브러리 결정</a:t>
            </a:r>
          </a:p>
        </p:txBody>
      </p:sp>
      <p:sp>
        <p:nvSpPr>
          <p:cNvPr id="171" name="Shape 1"/>
          <p:cNvSpPr/>
          <p:nvPr/>
        </p:nvSpPr>
        <p:spPr>
          <a:xfrm>
            <a:off x="455612" y="1486073"/>
            <a:ext cx="3931921" cy="3474721"/>
          </a:xfrm>
          <a:prstGeom prst="rect">
            <a:avLst/>
          </a:prstGeom>
          <a:solidFill>
            <a:srgbClr val="13131F"/>
          </a:solidFill>
          <a:ln w="12700">
            <a:solidFill>
              <a:srgbClr val="2A2A3D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Shape 2"/>
          <p:cNvSpPr/>
          <p:nvPr/>
        </p:nvSpPr>
        <p:spPr>
          <a:xfrm>
            <a:off x="455612" y="1486073"/>
            <a:ext cx="3931921" cy="347473"/>
          </a:xfrm>
          <a:prstGeom prst="rect">
            <a:avLst/>
          </a:prstGeom>
          <a:solidFill>
            <a:srgbClr val="3A1A1A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3"/>
          <p:cNvSpPr txBox="1"/>
          <p:nvPr/>
        </p:nvSpPr>
        <p:spPr>
          <a:xfrm>
            <a:off x="592772" y="1512611"/>
            <a:ext cx="3657601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38B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Unity 기반 앱 인터페이스</a:t>
            </a:r>
          </a:p>
        </p:txBody>
      </p:sp>
      <p:sp>
        <p:nvSpPr>
          <p:cNvPr id="174" name="Text 4"/>
          <p:cNvSpPr txBox="1"/>
          <p:nvPr/>
        </p:nvSpPr>
        <p:spPr>
          <a:xfrm>
            <a:off x="684212" y="2171225"/>
            <a:ext cx="3566161" cy="239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120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장점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게임적 UX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시각적 연출</a:t>
            </a:r>
          </a:p>
          <a:p>
            <a:pPr marL="120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단점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프로젝트 성격과 차이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구현 복잡도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앱 배포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배포 과정 등의 어려움이 있을 것으로 판단</a:t>
            </a:r>
          </a:p>
        </p:txBody>
      </p:sp>
      <p:sp>
        <p:nvSpPr>
          <p:cNvPr id="175" name="Shape 5"/>
          <p:cNvSpPr/>
          <p:nvPr/>
        </p:nvSpPr>
        <p:spPr>
          <a:xfrm>
            <a:off x="4753292" y="1486073"/>
            <a:ext cx="3931921" cy="3474721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Shape 6"/>
          <p:cNvSpPr/>
          <p:nvPr/>
        </p:nvSpPr>
        <p:spPr>
          <a:xfrm>
            <a:off x="4753292" y="1486073"/>
            <a:ext cx="3931921" cy="347473"/>
          </a:xfrm>
          <a:prstGeom prst="rect">
            <a:avLst/>
          </a:prstGeom>
          <a:solidFill>
            <a:srgbClr val="1A3A2A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7"/>
          <p:cNvSpPr txBox="1"/>
          <p:nvPr/>
        </p:nvSpPr>
        <p:spPr>
          <a:xfrm>
            <a:off x="4890452" y="1512611"/>
            <a:ext cx="3657601" cy="30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React 기반 웹 인터페이스</a:t>
            </a:r>
          </a:p>
        </p:txBody>
      </p:sp>
      <p:sp>
        <p:nvSpPr>
          <p:cNvPr id="178" name="Text 8"/>
          <p:cNvSpPr txBox="1"/>
          <p:nvPr/>
        </p:nvSpPr>
        <p:spPr>
          <a:xfrm>
            <a:off x="4936172" y="2168285"/>
            <a:ext cx="3566161" cy="290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120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장점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프로젝트 적합성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빠른 개발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배포 편의</a:t>
            </a:r>
          </a:p>
          <a:p>
            <a:pPr marL="120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단점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그래픽 연출 제한</a:t>
            </a:r>
          </a:p>
          <a:p>
            <a:pPr lvl="1" marL="501315" indent="-120315">
              <a:lnSpc>
                <a:spcPct val="14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게임적 UX 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프로젝트의 성격과 React가 더 잘 맞을 것으로 판단</a:t>
            </a:r>
          </a:p>
          <a:p>
            <a:pPr>
              <a:lnSpc>
                <a:spcPct val="140000"/>
              </a:lnSpc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</p:txBody>
      </p:sp>
      <p:sp>
        <p:nvSpPr>
          <p:cNvPr id="179" name="Text 19"/>
          <p:cNvSpPr txBox="1"/>
          <p:nvPr/>
        </p:nvSpPr>
        <p:spPr>
          <a:xfrm>
            <a:off x="640079" y="977078"/>
            <a:ext cx="3566161" cy="26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UI 핵심 라이브러리 결정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📅 진행사항</a:t>
            </a:r>
          </a:p>
        </p:txBody>
      </p:sp>
      <p:sp>
        <p:nvSpPr>
          <p:cNvPr id="182" name="Shape 18"/>
          <p:cNvSpPr/>
          <p:nvPr/>
        </p:nvSpPr>
        <p:spPr>
          <a:xfrm>
            <a:off x="457200" y="880513"/>
            <a:ext cx="1593837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Text 19"/>
          <p:cNvSpPr txBox="1"/>
          <p:nvPr/>
        </p:nvSpPr>
        <p:spPr>
          <a:xfrm>
            <a:off x="640079" y="977078"/>
            <a:ext cx="3566161" cy="26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로그인 페이지 생성</a:t>
            </a:r>
          </a:p>
        </p:txBody>
      </p:sp>
      <p:pic>
        <p:nvPicPr>
          <p:cNvPr id="184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83863" y="310404"/>
            <a:ext cx="5258370" cy="45226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📅 진행사항</a:t>
            </a:r>
          </a:p>
        </p:txBody>
      </p:sp>
      <p:sp>
        <p:nvSpPr>
          <p:cNvPr id="187" name="Shape 18"/>
          <p:cNvSpPr/>
          <p:nvPr/>
        </p:nvSpPr>
        <p:spPr>
          <a:xfrm>
            <a:off x="457200" y="880513"/>
            <a:ext cx="1336935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Text 19"/>
          <p:cNvSpPr txBox="1"/>
          <p:nvPr/>
        </p:nvSpPr>
        <p:spPr>
          <a:xfrm>
            <a:off x="640079" y="977078"/>
            <a:ext cx="3566161" cy="26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스테이지 목록</a:t>
            </a:r>
          </a:p>
        </p:txBody>
      </p:sp>
      <p:pic>
        <p:nvPicPr>
          <p:cNvPr id="189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64857" y="362138"/>
            <a:ext cx="5217746" cy="44192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📅 진행사항</a:t>
            </a:r>
          </a:p>
        </p:txBody>
      </p:sp>
      <p:sp>
        <p:nvSpPr>
          <p:cNvPr id="192" name="Shape 18"/>
          <p:cNvSpPr/>
          <p:nvPr/>
        </p:nvSpPr>
        <p:spPr>
          <a:xfrm>
            <a:off x="457200" y="880513"/>
            <a:ext cx="1784960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" name="Text 19"/>
          <p:cNvSpPr txBox="1"/>
          <p:nvPr/>
        </p:nvSpPr>
        <p:spPr>
          <a:xfrm>
            <a:off x="679114" y="977078"/>
            <a:ext cx="3566160" cy="26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스테이지 완료 페이지</a:t>
            </a:r>
          </a:p>
        </p:txBody>
      </p:sp>
      <p:pic>
        <p:nvPicPr>
          <p:cNvPr id="194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41817" y="452673"/>
            <a:ext cx="5512410" cy="35676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📅 진행사항</a:t>
            </a:r>
          </a:p>
        </p:txBody>
      </p:sp>
      <p:sp>
        <p:nvSpPr>
          <p:cNvPr id="197" name="Shape 18"/>
          <p:cNvSpPr/>
          <p:nvPr/>
        </p:nvSpPr>
        <p:spPr>
          <a:xfrm>
            <a:off x="457200" y="880513"/>
            <a:ext cx="1486529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" name="Text 19"/>
          <p:cNvSpPr txBox="1"/>
          <p:nvPr/>
        </p:nvSpPr>
        <p:spPr>
          <a:xfrm>
            <a:off x="679114" y="977078"/>
            <a:ext cx="3566160" cy="26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힌트 팝업 구현</a:t>
            </a:r>
          </a:p>
        </p:txBody>
      </p:sp>
      <p:pic>
        <p:nvPicPr>
          <p:cNvPr id="199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71698" y="297471"/>
            <a:ext cx="5354772" cy="42807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 txBox="1"/>
          <p:nvPr/>
        </p:nvSpPr>
        <p:spPr>
          <a:xfrm>
            <a:off x="457200" y="309879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📅 진행사항</a:t>
            </a:r>
          </a:p>
        </p:txBody>
      </p:sp>
      <p:sp>
        <p:nvSpPr>
          <p:cNvPr id="202" name="Shape 18"/>
          <p:cNvSpPr/>
          <p:nvPr/>
        </p:nvSpPr>
        <p:spPr>
          <a:xfrm>
            <a:off x="457200" y="880513"/>
            <a:ext cx="1486529" cy="457201"/>
          </a:xfrm>
          <a:prstGeom prst="rect">
            <a:avLst/>
          </a:prstGeom>
          <a:solidFill>
            <a:srgbClr val="13131F"/>
          </a:solidFill>
          <a:ln w="1270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Text 19"/>
          <p:cNvSpPr txBox="1"/>
          <p:nvPr/>
        </p:nvSpPr>
        <p:spPr>
          <a:xfrm>
            <a:off x="679114" y="977078"/>
            <a:ext cx="3566160" cy="26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게임 화면 구현</a:t>
            </a:r>
          </a:p>
        </p:txBody>
      </p:sp>
      <p:pic>
        <p:nvPicPr>
          <p:cNvPr id="204" name="붙여넣은 동영상.png" descr="붙여넣은 동영상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1213" y="1476548"/>
            <a:ext cx="7867730" cy="32960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 txBox="1"/>
          <p:nvPr/>
        </p:nvSpPr>
        <p:spPr>
          <a:xfrm>
            <a:off x="457200" y="322579"/>
            <a:ext cx="82296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🔥  어려웠던 점 &amp; 해결 방법</a:t>
            </a:r>
          </a:p>
        </p:txBody>
      </p:sp>
      <p:sp>
        <p:nvSpPr>
          <p:cNvPr id="207" name="Shape 1"/>
          <p:cNvSpPr/>
          <p:nvPr/>
        </p:nvSpPr>
        <p:spPr>
          <a:xfrm>
            <a:off x="457200" y="1005839"/>
            <a:ext cx="8229600" cy="822961"/>
          </a:xfrm>
          <a:prstGeom prst="rect">
            <a:avLst/>
          </a:prstGeom>
          <a:solidFill>
            <a:srgbClr val="13131F"/>
          </a:solidFill>
          <a:ln w="12700">
            <a:solidFill>
              <a:srgbClr val="F38BA8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Shape 2"/>
          <p:cNvSpPr/>
          <p:nvPr/>
        </p:nvSpPr>
        <p:spPr>
          <a:xfrm>
            <a:off x="457200" y="1005839"/>
            <a:ext cx="64008" cy="822961"/>
          </a:xfrm>
          <a:prstGeom prst="rect">
            <a:avLst/>
          </a:prstGeom>
          <a:solidFill>
            <a:srgbClr val="F38BA8"/>
          </a:solidFill>
          <a:ln w="12700">
            <a:solidFill>
              <a:srgbClr val="F38B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3"/>
          <p:cNvSpPr txBox="1"/>
          <p:nvPr/>
        </p:nvSpPr>
        <p:spPr>
          <a:xfrm>
            <a:off x="685800" y="1043432"/>
            <a:ext cx="356616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38B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❌  xterm.js 렌더러 에러</a:t>
            </a:r>
          </a:p>
        </p:txBody>
      </p:sp>
      <p:sp>
        <p:nvSpPr>
          <p:cNvPr id="210" name="Text 4"/>
          <p:cNvSpPr txBox="1"/>
          <p:nvPr/>
        </p:nvSpPr>
        <p:spPr>
          <a:xfrm>
            <a:off x="685800" y="1424564"/>
            <a:ext cx="3566160" cy="25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this._renderer.value.dimensions 에러 발생</a:t>
            </a:r>
          </a:p>
        </p:txBody>
      </p:sp>
      <p:sp>
        <p:nvSpPr>
          <p:cNvPr id="211" name="Text 5"/>
          <p:cNvSpPr txBox="1"/>
          <p:nvPr/>
        </p:nvSpPr>
        <p:spPr>
          <a:xfrm>
            <a:off x="4617720" y="1261708"/>
            <a:ext cx="3840480" cy="265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→  xterm.js 대신 React로 직접 터미널 UI 구현</a:t>
            </a:r>
          </a:p>
        </p:txBody>
      </p:sp>
      <p:sp>
        <p:nvSpPr>
          <p:cNvPr id="212" name="Shape 6"/>
          <p:cNvSpPr/>
          <p:nvPr/>
        </p:nvSpPr>
        <p:spPr>
          <a:xfrm>
            <a:off x="457200" y="2011679"/>
            <a:ext cx="8229600" cy="822961"/>
          </a:xfrm>
          <a:prstGeom prst="rect">
            <a:avLst/>
          </a:prstGeom>
          <a:solidFill>
            <a:srgbClr val="13131F"/>
          </a:solidFill>
          <a:ln w="12700">
            <a:solidFill>
              <a:srgbClr val="F9E2AF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Shape 7"/>
          <p:cNvSpPr/>
          <p:nvPr/>
        </p:nvSpPr>
        <p:spPr>
          <a:xfrm>
            <a:off x="457200" y="2011679"/>
            <a:ext cx="64008" cy="822961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8"/>
          <p:cNvSpPr txBox="1"/>
          <p:nvPr/>
        </p:nvSpPr>
        <p:spPr>
          <a:xfrm>
            <a:off x="685800" y="2049272"/>
            <a:ext cx="356616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9E2A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❌  Supabase IPv4 연결 문제</a:t>
            </a:r>
          </a:p>
        </p:txBody>
      </p:sp>
      <p:sp>
        <p:nvSpPr>
          <p:cNvPr id="215" name="Text 9"/>
          <p:cNvSpPr txBox="1"/>
          <p:nvPr/>
        </p:nvSpPr>
        <p:spPr>
          <a:xfrm>
            <a:off x="685800" y="2430404"/>
            <a:ext cx="3566160" cy="25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Direct connection IPv4 미지원으로 연결 실패</a:t>
            </a:r>
          </a:p>
        </p:txBody>
      </p:sp>
      <p:sp>
        <p:nvSpPr>
          <p:cNvPr id="216" name="Text 10"/>
          <p:cNvSpPr txBox="1"/>
          <p:nvPr/>
        </p:nvSpPr>
        <p:spPr>
          <a:xfrm>
            <a:off x="4617720" y="2267548"/>
            <a:ext cx="3840480" cy="265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→  Transaction pooler 방식으로 변경하여 해결</a:t>
            </a:r>
          </a:p>
        </p:txBody>
      </p:sp>
      <p:sp>
        <p:nvSpPr>
          <p:cNvPr id="217" name="Shape 11"/>
          <p:cNvSpPr/>
          <p:nvPr/>
        </p:nvSpPr>
        <p:spPr>
          <a:xfrm>
            <a:off x="457200" y="3017520"/>
            <a:ext cx="8229600" cy="822961"/>
          </a:xfrm>
          <a:prstGeom prst="rect">
            <a:avLst/>
          </a:prstGeom>
          <a:solidFill>
            <a:srgbClr val="13131F"/>
          </a:solidFill>
          <a:ln w="12700">
            <a:solidFill>
              <a:srgbClr val="89B4FA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" name="Shape 12"/>
          <p:cNvSpPr/>
          <p:nvPr/>
        </p:nvSpPr>
        <p:spPr>
          <a:xfrm>
            <a:off x="457200" y="3017520"/>
            <a:ext cx="64008" cy="822961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3"/>
          <p:cNvSpPr txBox="1"/>
          <p:nvPr/>
        </p:nvSpPr>
        <p:spPr>
          <a:xfrm>
            <a:off x="685800" y="3055112"/>
            <a:ext cx="356616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9B4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❌  명령어 채점 유연성</a:t>
            </a:r>
          </a:p>
        </p:txBody>
      </p:sp>
      <p:sp>
        <p:nvSpPr>
          <p:cNvPr id="220" name="Text 14"/>
          <p:cNvSpPr txBox="1"/>
          <p:nvPr/>
        </p:nvSpPr>
        <p:spPr>
          <a:xfrm>
            <a:off x="685800" y="3436244"/>
            <a:ext cx="3566160" cy="25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 commit 메시지가 달라도 정답 처리 필요</a:t>
            </a:r>
          </a:p>
        </p:txBody>
      </p:sp>
      <p:sp>
        <p:nvSpPr>
          <p:cNvPr id="221" name="Text 15"/>
          <p:cNvSpPr txBox="1"/>
          <p:nvPr/>
        </p:nvSpPr>
        <p:spPr>
          <a:xfrm>
            <a:off x="4617720" y="3273388"/>
            <a:ext cx="3840480" cy="265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→  정규식 기반 채점 시스템 도입으로 해결</a:t>
            </a:r>
          </a:p>
        </p:txBody>
      </p:sp>
      <p:sp>
        <p:nvSpPr>
          <p:cNvPr id="222" name="Shape 16"/>
          <p:cNvSpPr/>
          <p:nvPr/>
        </p:nvSpPr>
        <p:spPr>
          <a:xfrm>
            <a:off x="457200" y="4023359"/>
            <a:ext cx="8229600" cy="822961"/>
          </a:xfrm>
          <a:prstGeom prst="rect">
            <a:avLst/>
          </a:prstGeom>
          <a:solidFill>
            <a:srgbClr val="13131F"/>
          </a:solidFill>
          <a:ln w="12700">
            <a:solidFill>
              <a:srgbClr val="CBA6F7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" name="Shape 17"/>
          <p:cNvSpPr/>
          <p:nvPr/>
        </p:nvSpPr>
        <p:spPr>
          <a:xfrm>
            <a:off x="457200" y="4023359"/>
            <a:ext cx="64008" cy="822961"/>
          </a:xfrm>
          <a:prstGeom prst="rect">
            <a:avLst/>
          </a:prstGeom>
          <a:solidFill>
            <a:srgbClr val="CBA6F7"/>
          </a:solidFill>
          <a:ln w="12700">
            <a:solidFill>
              <a:srgbClr val="CBA6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8"/>
          <p:cNvSpPr txBox="1"/>
          <p:nvPr/>
        </p:nvSpPr>
        <p:spPr>
          <a:xfrm>
            <a:off x="685800" y="4060951"/>
            <a:ext cx="356616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BA6F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❌  팀 브랜치 전략</a:t>
            </a:r>
          </a:p>
        </p:txBody>
      </p:sp>
      <p:sp>
        <p:nvSpPr>
          <p:cNvPr id="225" name="Text 19"/>
          <p:cNvSpPr txBox="1"/>
          <p:nvPr/>
        </p:nvSpPr>
        <p:spPr>
          <a:xfrm>
            <a:off x="685800" y="4442085"/>
            <a:ext cx="3566160" cy="250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팀 프로젝트 첫 경험으로 충돌 발생</a:t>
            </a:r>
          </a:p>
        </p:txBody>
      </p:sp>
      <p:sp>
        <p:nvSpPr>
          <p:cNvPr id="226" name="Text 20"/>
          <p:cNvSpPr txBox="1"/>
          <p:nvPr/>
        </p:nvSpPr>
        <p:spPr>
          <a:xfrm>
            <a:off x="4617720" y="4279228"/>
            <a:ext cx="3840480" cy="265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→  main/develop/feature 브랜치 전략 수립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 txBox="1"/>
          <p:nvPr/>
        </p:nvSpPr>
        <p:spPr>
          <a:xfrm>
            <a:off x="457200" y="335279"/>
            <a:ext cx="822960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📝  아쉬운 점 &amp; 추가하고 싶은 기능</a:t>
            </a:r>
          </a:p>
        </p:txBody>
      </p:sp>
      <p:sp>
        <p:nvSpPr>
          <p:cNvPr id="229" name="Shape 1"/>
          <p:cNvSpPr/>
          <p:nvPr/>
        </p:nvSpPr>
        <p:spPr>
          <a:xfrm>
            <a:off x="457199" y="960119"/>
            <a:ext cx="3931922" cy="3474722"/>
          </a:xfrm>
          <a:prstGeom prst="rect">
            <a:avLst/>
          </a:prstGeom>
          <a:solidFill>
            <a:srgbClr val="13131F"/>
          </a:solidFill>
          <a:ln w="19050">
            <a:solidFill>
              <a:srgbClr val="F38BA8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Shape 2"/>
          <p:cNvSpPr/>
          <p:nvPr/>
        </p:nvSpPr>
        <p:spPr>
          <a:xfrm>
            <a:off x="457199" y="960119"/>
            <a:ext cx="3931922" cy="347473"/>
          </a:xfrm>
          <a:prstGeom prst="rect">
            <a:avLst/>
          </a:prstGeom>
          <a:solidFill>
            <a:srgbClr val="3A1A1A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3"/>
          <p:cNvSpPr txBox="1"/>
          <p:nvPr/>
        </p:nvSpPr>
        <p:spPr>
          <a:xfrm>
            <a:off x="640079" y="959358"/>
            <a:ext cx="35661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38B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😅  아쉬운 점</a:t>
            </a:r>
          </a:p>
        </p:txBody>
      </p:sp>
      <p:sp>
        <p:nvSpPr>
          <p:cNvPr id="232" name="Text 4"/>
          <p:cNvSpPr txBox="1"/>
          <p:nvPr/>
        </p:nvSpPr>
        <p:spPr>
          <a:xfrm>
            <a:off x="640079" y="2122169"/>
            <a:ext cx="3566161" cy="1424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스테이지 수가 적음 (5개)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모바일 최적화 미흡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실제 Git 환경과 완전히 동일하지 않음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로그인 시스템이 단순함 (닉네임만)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배포 환경 미구축</a:t>
            </a:r>
          </a:p>
        </p:txBody>
      </p:sp>
      <p:sp>
        <p:nvSpPr>
          <p:cNvPr id="233" name="Shape 5"/>
          <p:cNvSpPr/>
          <p:nvPr/>
        </p:nvSpPr>
        <p:spPr>
          <a:xfrm>
            <a:off x="4754879" y="960119"/>
            <a:ext cx="3931921" cy="3474722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" name="Shape 6"/>
          <p:cNvSpPr/>
          <p:nvPr/>
        </p:nvSpPr>
        <p:spPr>
          <a:xfrm>
            <a:off x="4754879" y="960119"/>
            <a:ext cx="3931921" cy="347473"/>
          </a:xfrm>
          <a:prstGeom prst="rect">
            <a:avLst/>
          </a:prstGeom>
          <a:solidFill>
            <a:srgbClr val="1A3A2A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7"/>
          <p:cNvSpPr txBox="1"/>
          <p:nvPr/>
        </p:nvSpPr>
        <p:spPr>
          <a:xfrm>
            <a:off x="4937760" y="959358"/>
            <a:ext cx="35661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🚀  추가하고 싶은 기능</a:t>
            </a:r>
          </a:p>
        </p:txBody>
      </p:sp>
      <p:sp>
        <p:nvSpPr>
          <p:cNvPr id="236" name="Text 8"/>
          <p:cNvSpPr txBox="1"/>
          <p:nvPr/>
        </p:nvSpPr>
        <p:spPr>
          <a:xfrm>
            <a:off x="4937760" y="1979294"/>
            <a:ext cx="3566161" cy="1710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타이머 &amp; 목숨 시스템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리더보드 (점수 순위표)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Linux 명령어 스테이지 추가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폭죽 애니메이션 (confetti)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소셜 로그인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  <a:defRPr sz="12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실제 배포 (Vercel + Railway)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1828800" y="914399"/>
            <a:ext cx="5486400" cy="3291842"/>
          </a:xfrm>
          <a:prstGeom prst="rect">
            <a:avLst/>
          </a:prstGeom>
          <a:solidFill>
            <a:srgbClr val="13131F"/>
          </a:solidFill>
          <a:ln w="19050">
            <a:solidFill>
              <a:srgbClr val="A6E3A1"/>
            </a:solidFill>
          </a:ln>
          <a:effectLst>
            <a:outerShdw sx="100000" sy="100000" kx="0" ky="0" algn="b" rotWithShape="0" blurRad="101600" dist="381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Shape 1"/>
          <p:cNvSpPr/>
          <p:nvPr/>
        </p:nvSpPr>
        <p:spPr>
          <a:xfrm>
            <a:off x="1828800" y="914400"/>
            <a:ext cx="5486400" cy="274321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Shape 2"/>
          <p:cNvSpPr/>
          <p:nvPr/>
        </p:nvSpPr>
        <p:spPr>
          <a:xfrm>
            <a:off x="1993392" y="987552"/>
            <a:ext cx="109729" cy="109729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Shape 3"/>
          <p:cNvSpPr/>
          <p:nvPr/>
        </p:nvSpPr>
        <p:spPr>
          <a:xfrm>
            <a:off x="2194560" y="987552"/>
            <a:ext cx="109729" cy="109729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Shape 4"/>
          <p:cNvSpPr/>
          <p:nvPr/>
        </p:nvSpPr>
        <p:spPr>
          <a:xfrm>
            <a:off x="2395727" y="987552"/>
            <a:ext cx="109729" cy="109729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5"/>
          <p:cNvSpPr txBox="1"/>
          <p:nvPr/>
        </p:nvSpPr>
        <p:spPr>
          <a:xfrm>
            <a:off x="1608424" y="1332382"/>
            <a:ext cx="53949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lvl="1" algn="ctr">
              <a:defRPr b="1" sz="20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🖥️  Command Craft Tutorial</a:t>
            </a:r>
          </a:p>
        </p:txBody>
      </p:sp>
      <p:sp>
        <p:nvSpPr>
          <p:cNvPr id="244" name="Text 6"/>
          <p:cNvSpPr txBox="1"/>
          <p:nvPr/>
        </p:nvSpPr>
        <p:spPr>
          <a:xfrm>
            <a:off x="1874520" y="1929434"/>
            <a:ext cx="5394960" cy="621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50000"/>
              </a:lnSpc>
              <a:defRPr sz="13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Git 명령어를 게임처럼 배울 수 있는</a:t>
            </a:r>
          </a:p>
          <a:p>
            <a:pPr algn="ctr">
              <a:lnSpc>
                <a:spcPct val="150000"/>
              </a:lnSpc>
              <a:defRPr sz="13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인터랙티브 웹 튜토리얼</a:t>
            </a:r>
          </a:p>
        </p:txBody>
      </p:sp>
      <p:sp>
        <p:nvSpPr>
          <p:cNvPr id="245" name="Shape 7"/>
          <p:cNvSpPr/>
          <p:nvPr/>
        </p:nvSpPr>
        <p:spPr>
          <a:xfrm>
            <a:off x="2743200" y="2651760"/>
            <a:ext cx="3657600" cy="18289"/>
          </a:xfrm>
          <a:prstGeom prst="rect">
            <a:avLst/>
          </a:prstGeom>
          <a:solidFill>
            <a:srgbClr val="2A2A3D"/>
          </a:solidFill>
          <a:ln w="12700">
            <a:solidFill>
              <a:srgbClr val="2A2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8"/>
          <p:cNvSpPr txBox="1"/>
          <p:nvPr/>
        </p:nvSpPr>
        <p:spPr>
          <a:xfrm>
            <a:off x="1874520" y="2771140"/>
            <a:ext cx="539496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감사합니다 🙏</a:t>
            </a:r>
          </a:p>
        </p:txBody>
      </p:sp>
      <p:sp>
        <p:nvSpPr>
          <p:cNvPr id="247" name="Text 9"/>
          <p:cNvSpPr txBox="1"/>
          <p:nvPr/>
        </p:nvSpPr>
        <p:spPr>
          <a:xfrm>
            <a:off x="1874520" y="3300730"/>
            <a:ext cx="53949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C70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github.com/CommandCraftTutorial/CCT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