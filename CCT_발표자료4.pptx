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" name="Shape 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프로젝트 소개 슬라이드입니다</a:t>
            </a:r>
            <a:r>
              <a:t>. CCT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터미널 명령어를 게임처럼 배울 수 있는 웹 플랫폼입니다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" name="Shape 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기존 터미널 학습의 문제점과 </a:t>
            </a:r>
            <a:r>
              <a:t>CCT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어떻게 해결하는지 설명합니다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6" name="Shape 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CCT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의 </a:t>
            </a:r>
            <a:r>
              <a:t>6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가지 핵심 기능을 소개합니다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1" name="Shape 1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프론트엔드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백엔드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인프라 기술 스택을 설명합니다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마무리 슬라이드입니다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질문을 받을 준비를 합니다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5" name="Shape 1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마무리 슬라이드입니다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질문을 받을 준비를 합니다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3" name="Shape 1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마무리 슬라이드입니다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질문을 받을 준비를 합니다</a:t>
            </a:r>
            <a:r>
              <a:t>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ct-teal.vercel.app/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594359" y="725169"/>
            <a:ext cx="100584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2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&gt;_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1600200" y="731172"/>
            <a:ext cx="7040879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CommandCraftTutorial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594360" y="1466850"/>
            <a:ext cx="7955279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8B949E"/>
                </a:solidFill>
              </a:defRPr>
            </a:lvl1pPr>
          </a:lstStyle>
          <a:p>
            <a:pPr/>
            <a:r>
              <a:t>터미널 명령어를 게임처럼 배우는 학습 플랫폼</a:t>
            </a:r>
          </a:p>
        </p:txBody>
      </p:sp>
      <p:sp>
        <p:nvSpPr>
          <p:cNvPr id="23" name="Shape 3"/>
          <p:cNvSpPr/>
          <p:nvPr/>
        </p:nvSpPr>
        <p:spPr>
          <a:xfrm>
            <a:off x="548640" y="1965960"/>
            <a:ext cx="8046719" cy="27433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Shape 4"/>
          <p:cNvSpPr/>
          <p:nvPr/>
        </p:nvSpPr>
        <p:spPr>
          <a:xfrm>
            <a:off x="548640" y="2194560"/>
            <a:ext cx="1371601" cy="411481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9050">
            <a:solidFill>
              <a:srgbClr val="A6E3A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594359" y="2259900"/>
            <a:ext cx="12801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A6E3A1"/>
                </a:solidFill>
              </a:defRPr>
            </a:lvl1pPr>
          </a:lstStyle>
          <a:p>
            <a:pPr/>
            <a:r>
              <a:t>Git</a:t>
            </a:r>
          </a:p>
        </p:txBody>
      </p:sp>
      <p:sp>
        <p:nvSpPr>
          <p:cNvPr id="26" name="Shape 6"/>
          <p:cNvSpPr/>
          <p:nvPr/>
        </p:nvSpPr>
        <p:spPr>
          <a:xfrm>
            <a:off x="2148839" y="2194560"/>
            <a:ext cx="1371601" cy="411481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9050">
            <a:solidFill>
              <a:srgbClr val="89B4F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7"/>
          <p:cNvSpPr txBox="1"/>
          <p:nvPr/>
        </p:nvSpPr>
        <p:spPr>
          <a:xfrm>
            <a:off x="2194560" y="2259900"/>
            <a:ext cx="1280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89B4FA"/>
                </a:solidFill>
              </a:defRPr>
            </a:lvl1pPr>
          </a:lstStyle>
          <a:p>
            <a:pPr/>
            <a:r>
              <a:t>Linux</a:t>
            </a:r>
          </a:p>
        </p:txBody>
      </p:sp>
      <p:sp>
        <p:nvSpPr>
          <p:cNvPr id="28" name="Shape 8"/>
          <p:cNvSpPr/>
          <p:nvPr/>
        </p:nvSpPr>
        <p:spPr>
          <a:xfrm>
            <a:off x="3749040" y="2194560"/>
            <a:ext cx="1371601" cy="411481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9050">
            <a:solidFill>
              <a:srgbClr val="F38BA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9"/>
          <p:cNvSpPr txBox="1"/>
          <p:nvPr/>
        </p:nvSpPr>
        <p:spPr>
          <a:xfrm>
            <a:off x="3794760" y="2259900"/>
            <a:ext cx="1280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38BA8"/>
                </a:solidFill>
              </a:defRPr>
            </a:lvl1pPr>
          </a:lstStyle>
          <a:p>
            <a:pPr/>
            <a:r>
              <a:t>GDB</a:t>
            </a:r>
          </a:p>
        </p:txBody>
      </p:sp>
      <p:sp>
        <p:nvSpPr>
          <p:cNvPr id="30" name="Shape 10"/>
          <p:cNvSpPr/>
          <p:nvPr/>
        </p:nvSpPr>
        <p:spPr>
          <a:xfrm>
            <a:off x="5349240" y="2194560"/>
            <a:ext cx="1371601" cy="411481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9050">
            <a:solidFill>
              <a:srgbClr val="F9E2A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1"/>
          <p:cNvSpPr txBox="1"/>
          <p:nvPr/>
        </p:nvSpPr>
        <p:spPr>
          <a:xfrm>
            <a:off x="5394960" y="2259900"/>
            <a:ext cx="1280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9E2AF"/>
                </a:solidFill>
              </a:defRPr>
            </a:lvl1pPr>
          </a:lstStyle>
          <a:p>
            <a:pPr/>
            <a:r>
              <a:t>PDB</a:t>
            </a:r>
          </a:p>
        </p:txBody>
      </p:sp>
      <p:sp>
        <p:nvSpPr>
          <p:cNvPr id="32" name="Text 12"/>
          <p:cNvSpPr txBox="1"/>
          <p:nvPr/>
        </p:nvSpPr>
        <p:spPr>
          <a:xfrm>
            <a:off x="594359" y="2899410"/>
            <a:ext cx="72237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git init</a:t>
            </a:r>
          </a:p>
        </p:txBody>
      </p:sp>
      <p:sp>
        <p:nvSpPr>
          <p:cNvPr id="33" name="Text 13"/>
          <p:cNvSpPr txBox="1"/>
          <p:nvPr/>
        </p:nvSpPr>
        <p:spPr>
          <a:xfrm>
            <a:off x="594359" y="3265170"/>
            <a:ext cx="72237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git add .</a:t>
            </a:r>
          </a:p>
        </p:txBody>
      </p:sp>
      <p:sp>
        <p:nvSpPr>
          <p:cNvPr id="34" name="Text 14"/>
          <p:cNvSpPr txBox="1"/>
          <p:nvPr/>
        </p:nvSpPr>
        <p:spPr>
          <a:xfrm>
            <a:off x="594359" y="3630929"/>
            <a:ext cx="72237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git commit -m 'first commit'</a:t>
            </a:r>
          </a:p>
        </p:txBody>
      </p:sp>
      <p:sp>
        <p:nvSpPr>
          <p:cNvPr id="35" name="Text 15"/>
          <p:cNvSpPr txBox="1"/>
          <p:nvPr/>
        </p:nvSpPr>
        <p:spPr>
          <a:xfrm>
            <a:off x="594359" y="4093209"/>
            <a:ext cx="356616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9E2AF"/>
                </a:solidFill>
              </a:defRPr>
            </a:lvl1pPr>
          </a:lstStyle>
          <a:p>
            <a:pPr/>
            <a:r>
              <a:t>🏆 +100점 획득!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 txBox="1"/>
          <p:nvPr/>
        </p:nvSpPr>
        <p:spPr>
          <a:xfrm>
            <a:off x="594360" y="320039"/>
            <a:ext cx="7955279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왜 만들었나요?</a:t>
            </a:r>
          </a:p>
        </p:txBody>
      </p:sp>
      <p:sp>
        <p:nvSpPr>
          <p:cNvPr id="40" name="Shape 1"/>
          <p:cNvSpPr/>
          <p:nvPr/>
        </p:nvSpPr>
        <p:spPr>
          <a:xfrm>
            <a:off x="457200" y="1005839"/>
            <a:ext cx="3840480" cy="3291842"/>
          </a:xfrm>
          <a:prstGeom prst="roundRect">
            <a:avLst>
              <a:gd name="adj" fmla="val 4167"/>
            </a:avLst>
          </a:prstGeom>
          <a:solidFill>
            <a:srgbClr val="1A0A0A"/>
          </a:solidFill>
          <a:ln w="19050">
            <a:solidFill>
              <a:srgbClr val="F38BA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2"/>
          <p:cNvSpPr txBox="1"/>
          <p:nvPr/>
        </p:nvSpPr>
        <p:spPr>
          <a:xfrm>
            <a:off x="685800" y="1144269"/>
            <a:ext cx="338328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38BA8"/>
                </a:solidFill>
              </a:defRPr>
            </a:lvl1pPr>
          </a:lstStyle>
          <a:p>
            <a:pPr/>
            <a:r>
              <a:t>❌  기존 방식의 문제</a:t>
            </a:r>
          </a:p>
        </p:txBody>
      </p:sp>
      <p:sp>
        <p:nvSpPr>
          <p:cNvPr id="42" name="Text 3"/>
          <p:cNvSpPr txBox="1"/>
          <p:nvPr/>
        </p:nvSpPr>
        <p:spPr>
          <a:xfrm>
            <a:off x="822959" y="1736343"/>
            <a:ext cx="3200402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E8C4C4"/>
                </a:solidFill>
              </a:defRPr>
            </a:lvl1pPr>
          </a:lstStyle>
          <a:p>
            <a:pPr/>
            <a:r>
              <a:t>• 단순 암기 위주의 학습</a:t>
            </a:r>
          </a:p>
        </p:txBody>
      </p:sp>
      <p:sp>
        <p:nvSpPr>
          <p:cNvPr id="43" name="Text 4"/>
          <p:cNvSpPr txBox="1"/>
          <p:nvPr/>
        </p:nvSpPr>
        <p:spPr>
          <a:xfrm>
            <a:off x="822959" y="2211831"/>
            <a:ext cx="3200402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E8C4C4"/>
                </a:solidFill>
              </a:defRPr>
            </a:lvl1pPr>
          </a:lstStyle>
          <a:p>
            <a:pPr/>
            <a:r>
              <a:t>• 실습 없이 이론만 반복</a:t>
            </a:r>
          </a:p>
        </p:txBody>
      </p:sp>
      <p:sp>
        <p:nvSpPr>
          <p:cNvPr id="44" name="Text 5"/>
          <p:cNvSpPr txBox="1"/>
          <p:nvPr/>
        </p:nvSpPr>
        <p:spPr>
          <a:xfrm>
            <a:off x="822959" y="2687319"/>
            <a:ext cx="3200402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E8C4C4"/>
                </a:solidFill>
              </a:defRPr>
            </a:lvl1pPr>
          </a:lstStyle>
          <a:p>
            <a:pPr/>
            <a:r>
              <a:t>• 피드백이 없어 흥미 저하</a:t>
            </a:r>
          </a:p>
        </p:txBody>
      </p:sp>
      <p:sp>
        <p:nvSpPr>
          <p:cNvPr id="45" name="Text 6"/>
          <p:cNvSpPr txBox="1"/>
          <p:nvPr/>
        </p:nvSpPr>
        <p:spPr>
          <a:xfrm>
            <a:off x="822959" y="3162808"/>
            <a:ext cx="3200402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E8C4C4"/>
                </a:solidFill>
              </a:defRPr>
            </a:lvl1pPr>
          </a:lstStyle>
          <a:p>
            <a:pPr/>
            <a:r>
              <a:t>• 실전 감각 부족</a:t>
            </a:r>
          </a:p>
        </p:txBody>
      </p:sp>
      <p:sp>
        <p:nvSpPr>
          <p:cNvPr id="46" name="Shape 7"/>
          <p:cNvSpPr/>
          <p:nvPr/>
        </p:nvSpPr>
        <p:spPr>
          <a:xfrm>
            <a:off x="4754879" y="1005839"/>
            <a:ext cx="3840481" cy="3291842"/>
          </a:xfrm>
          <a:prstGeom prst="roundRect">
            <a:avLst>
              <a:gd name="adj" fmla="val 4167"/>
            </a:avLst>
          </a:prstGeom>
          <a:solidFill>
            <a:srgbClr val="0A1A0A"/>
          </a:solidFill>
          <a:ln w="19050">
            <a:solidFill>
              <a:srgbClr val="A6E3A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8"/>
          <p:cNvSpPr txBox="1"/>
          <p:nvPr/>
        </p:nvSpPr>
        <p:spPr>
          <a:xfrm>
            <a:off x="4983479" y="1144269"/>
            <a:ext cx="33832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A6E3A1"/>
                </a:solidFill>
              </a:defRPr>
            </a:lvl1pPr>
          </a:lstStyle>
          <a:p>
            <a:pPr/>
            <a:r>
              <a:t>✅  CCT의 해결책</a:t>
            </a:r>
          </a:p>
        </p:txBody>
      </p:sp>
      <p:sp>
        <p:nvSpPr>
          <p:cNvPr id="48" name="Text 9"/>
          <p:cNvSpPr txBox="1"/>
          <p:nvPr/>
        </p:nvSpPr>
        <p:spPr>
          <a:xfrm>
            <a:off x="4983479" y="1736343"/>
            <a:ext cx="33832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C4E8C4"/>
                </a:solidFill>
              </a:defRPr>
            </a:lvl1pPr>
          </a:lstStyle>
          <a:p>
            <a:pPr/>
            <a:r>
              <a:t>• 직접 입력하며 배우는 실습</a:t>
            </a:r>
          </a:p>
        </p:txBody>
      </p:sp>
      <p:sp>
        <p:nvSpPr>
          <p:cNvPr id="49" name="Text 10"/>
          <p:cNvSpPr txBox="1"/>
          <p:nvPr/>
        </p:nvSpPr>
        <p:spPr>
          <a:xfrm>
            <a:off x="4983479" y="2211831"/>
            <a:ext cx="33832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C4E8C4"/>
                </a:solidFill>
              </a:defRPr>
            </a:lvl1pPr>
          </a:lstStyle>
          <a:p>
            <a:pPr/>
            <a:r>
              <a:t>• 즉각적인 채점 &amp; 피드백</a:t>
            </a:r>
          </a:p>
        </p:txBody>
      </p:sp>
      <p:sp>
        <p:nvSpPr>
          <p:cNvPr id="50" name="Text 11"/>
          <p:cNvSpPr txBox="1"/>
          <p:nvPr/>
        </p:nvSpPr>
        <p:spPr>
          <a:xfrm>
            <a:off x="4983479" y="2687319"/>
            <a:ext cx="33832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C4E8C4"/>
                </a:solidFill>
              </a:defRPr>
            </a:lvl1pPr>
          </a:lstStyle>
          <a:p>
            <a:pPr/>
            <a:r>
              <a:t>• 게임화로 학습 동기 부여</a:t>
            </a:r>
          </a:p>
        </p:txBody>
      </p:sp>
      <p:sp>
        <p:nvSpPr>
          <p:cNvPr id="51" name="Text 12"/>
          <p:cNvSpPr txBox="1"/>
          <p:nvPr/>
        </p:nvSpPr>
        <p:spPr>
          <a:xfrm>
            <a:off x="4983479" y="3162808"/>
            <a:ext cx="33832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C4E8C4"/>
                </a:solidFill>
              </a:defRPr>
            </a:lvl1pPr>
          </a:lstStyle>
          <a:p>
            <a:pPr/>
            <a:r>
              <a:t>• 시나리오형 심화 미션</a:t>
            </a:r>
          </a:p>
        </p:txBody>
      </p:sp>
      <p:sp>
        <p:nvSpPr>
          <p:cNvPr id="52" name="Shape 13"/>
          <p:cNvSpPr/>
          <p:nvPr/>
        </p:nvSpPr>
        <p:spPr>
          <a:xfrm>
            <a:off x="4343400" y="2606039"/>
            <a:ext cx="411481" cy="1"/>
          </a:xfrm>
          <a:prstGeom prst="line">
            <a:avLst/>
          </a:prstGeom>
          <a:ln w="25400">
            <a:solidFill>
              <a:srgbClr val="8B949E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 txBox="1"/>
          <p:nvPr/>
        </p:nvSpPr>
        <p:spPr>
          <a:xfrm>
            <a:off x="594360" y="320039"/>
            <a:ext cx="7955279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주요 기능</a:t>
            </a:r>
          </a:p>
        </p:txBody>
      </p:sp>
      <p:sp>
        <p:nvSpPr>
          <p:cNvPr id="57" name="Shape 1"/>
          <p:cNvSpPr/>
          <p:nvPr/>
        </p:nvSpPr>
        <p:spPr>
          <a:xfrm>
            <a:off x="457200" y="1005839"/>
            <a:ext cx="2468880" cy="1645922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" name="Text 2"/>
          <p:cNvSpPr txBox="1"/>
          <p:nvPr/>
        </p:nvSpPr>
        <p:spPr>
          <a:xfrm>
            <a:off x="640079" y="1179830"/>
            <a:ext cx="2103122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A6E3A1"/>
                </a:solidFill>
              </a:defRPr>
            </a:lvl1pPr>
          </a:lstStyle>
          <a:p>
            <a:pPr/>
            <a:r>
              <a:t>🎮  단계별 미션</a:t>
            </a:r>
          </a:p>
        </p:txBody>
      </p:sp>
      <p:sp>
        <p:nvSpPr>
          <p:cNvPr id="59" name="Text 3"/>
          <p:cNvSpPr txBox="1"/>
          <p:nvPr/>
        </p:nvSpPr>
        <p:spPr>
          <a:xfrm>
            <a:off x="640079" y="1775787"/>
            <a:ext cx="2103122" cy="563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</a:defRPr>
            </a:pPr>
            <a:r>
              <a:t>기초→중급→심화</a:t>
            </a:r>
          </a:p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</a:defRPr>
            </a:pPr>
            <a:r>
              <a:t>난이도별 스테이지</a:t>
            </a:r>
          </a:p>
        </p:txBody>
      </p:sp>
      <p:sp>
        <p:nvSpPr>
          <p:cNvPr id="60" name="Shape 4"/>
          <p:cNvSpPr/>
          <p:nvPr/>
        </p:nvSpPr>
        <p:spPr>
          <a:xfrm>
            <a:off x="3063239" y="1005839"/>
            <a:ext cx="2468881" cy="1645922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" name="Text 5"/>
          <p:cNvSpPr txBox="1"/>
          <p:nvPr/>
        </p:nvSpPr>
        <p:spPr>
          <a:xfrm>
            <a:off x="3246119" y="1179830"/>
            <a:ext cx="21031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89B4FA"/>
                </a:solidFill>
              </a:defRPr>
            </a:lvl1pPr>
          </a:lstStyle>
          <a:p>
            <a:pPr/>
            <a:r>
              <a:t>⚡  실시간 채점</a:t>
            </a:r>
          </a:p>
        </p:txBody>
      </p:sp>
      <p:sp>
        <p:nvSpPr>
          <p:cNvPr id="62" name="Text 6"/>
          <p:cNvSpPr txBox="1"/>
          <p:nvPr/>
        </p:nvSpPr>
        <p:spPr>
          <a:xfrm>
            <a:off x="3246119" y="1775787"/>
            <a:ext cx="2103121" cy="563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</a:defRPr>
            </a:pPr>
            <a:r>
              <a:t>명령어 입력 즉시</a:t>
            </a:r>
          </a:p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</a:defRPr>
            </a:pPr>
            <a:r>
              <a:t>정답 여부 판별</a:t>
            </a:r>
          </a:p>
        </p:txBody>
      </p:sp>
      <p:sp>
        <p:nvSpPr>
          <p:cNvPr id="63" name="Shape 7"/>
          <p:cNvSpPr/>
          <p:nvPr/>
        </p:nvSpPr>
        <p:spPr>
          <a:xfrm>
            <a:off x="5669279" y="1005839"/>
            <a:ext cx="2468881" cy="1645922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" name="Text 8"/>
          <p:cNvSpPr txBox="1"/>
          <p:nvPr/>
        </p:nvSpPr>
        <p:spPr>
          <a:xfrm>
            <a:off x="5852160" y="1179830"/>
            <a:ext cx="21031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9E2AF"/>
                </a:solidFill>
              </a:defRPr>
            </a:lvl1pPr>
          </a:lstStyle>
          <a:p>
            <a:pPr/>
            <a:r>
              <a:t>🔧  가상 엔진</a:t>
            </a:r>
          </a:p>
        </p:txBody>
      </p:sp>
      <p:sp>
        <p:nvSpPr>
          <p:cNvPr id="65" name="Text 9"/>
          <p:cNvSpPr txBox="1"/>
          <p:nvPr/>
        </p:nvSpPr>
        <p:spPr>
          <a:xfrm>
            <a:off x="5852160" y="1775787"/>
            <a:ext cx="2103121" cy="563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</a:defRPr>
            </a:pPr>
            <a:r>
              <a:t>실제 Git/Linux</a:t>
            </a:r>
          </a:p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</a:defRPr>
            </a:pPr>
            <a:r>
              <a:t>환경 시뮬레이션</a:t>
            </a:r>
          </a:p>
        </p:txBody>
      </p:sp>
      <p:sp>
        <p:nvSpPr>
          <p:cNvPr id="66" name="Shape 10"/>
          <p:cNvSpPr/>
          <p:nvPr/>
        </p:nvSpPr>
        <p:spPr>
          <a:xfrm>
            <a:off x="457200" y="2880360"/>
            <a:ext cx="2468880" cy="1645921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" name="Text 11"/>
          <p:cNvSpPr txBox="1"/>
          <p:nvPr/>
        </p:nvSpPr>
        <p:spPr>
          <a:xfrm>
            <a:off x="640079" y="3054349"/>
            <a:ext cx="2103122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38BA8"/>
                </a:solidFill>
              </a:defRPr>
            </a:lvl1pPr>
          </a:lstStyle>
          <a:p>
            <a:pPr/>
            <a:r>
              <a:t>🏆  점수 &amp; 랭킹</a:t>
            </a:r>
          </a:p>
        </p:txBody>
      </p:sp>
      <p:sp>
        <p:nvSpPr>
          <p:cNvPr id="68" name="Text 12"/>
          <p:cNvSpPr txBox="1"/>
          <p:nvPr/>
        </p:nvSpPr>
        <p:spPr>
          <a:xfrm>
            <a:off x="640079" y="3650307"/>
            <a:ext cx="2103122" cy="563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</a:defRPr>
            </a:pPr>
            <a:r>
              <a:t>게임화된 학습으로</a:t>
            </a:r>
          </a:p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</a:defRPr>
            </a:pPr>
            <a:r>
              <a:t>성취감 제공</a:t>
            </a:r>
          </a:p>
        </p:txBody>
      </p:sp>
      <p:sp>
        <p:nvSpPr>
          <p:cNvPr id="69" name="Shape 13"/>
          <p:cNvSpPr/>
          <p:nvPr/>
        </p:nvSpPr>
        <p:spPr>
          <a:xfrm>
            <a:off x="3063239" y="2880360"/>
            <a:ext cx="2468881" cy="1645921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" name="Text 14"/>
          <p:cNvSpPr txBox="1"/>
          <p:nvPr/>
        </p:nvSpPr>
        <p:spPr>
          <a:xfrm>
            <a:off x="3246119" y="3054349"/>
            <a:ext cx="21031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A6E3A1"/>
                </a:solidFill>
              </a:defRPr>
            </a:lvl1pPr>
          </a:lstStyle>
          <a:p>
            <a:pPr/>
            <a:r>
              <a:t>💡  힌트 시스템</a:t>
            </a:r>
          </a:p>
        </p:txBody>
      </p:sp>
      <p:sp>
        <p:nvSpPr>
          <p:cNvPr id="71" name="Text 15"/>
          <p:cNvSpPr txBox="1"/>
          <p:nvPr/>
        </p:nvSpPr>
        <p:spPr>
          <a:xfrm>
            <a:off x="3246119" y="3650307"/>
            <a:ext cx="2103121" cy="563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</a:defRPr>
            </a:pPr>
            <a:r>
              <a:t>막힐 때 단계별</a:t>
            </a:r>
          </a:p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</a:defRPr>
            </a:pPr>
            <a:r>
              <a:t>힌트 제공</a:t>
            </a:r>
          </a:p>
        </p:txBody>
      </p:sp>
      <p:sp>
        <p:nvSpPr>
          <p:cNvPr id="72" name="Shape 16"/>
          <p:cNvSpPr/>
          <p:nvPr/>
        </p:nvSpPr>
        <p:spPr>
          <a:xfrm>
            <a:off x="5669279" y="2880360"/>
            <a:ext cx="2468881" cy="1645921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" name="Text 17"/>
          <p:cNvSpPr txBox="1"/>
          <p:nvPr/>
        </p:nvSpPr>
        <p:spPr>
          <a:xfrm>
            <a:off x="5852160" y="3054349"/>
            <a:ext cx="21031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89B4FA"/>
                </a:solidFill>
              </a:defRPr>
            </a:lvl1pPr>
          </a:lstStyle>
          <a:p>
            <a:pPr/>
            <a:r>
              <a:t>📋  시나리오 미션</a:t>
            </a:r>
          </a:p>
        </p:txBody>
      </p:sp>
      <p:sp>
        <p:nvSpPr>
          <p:cNvPr id="74" name="Text 18"/>
          <p:cNvSpPr txBox="1"/>
          <p:nvPr/>
        </p:nvSpPr>
        <p:spPr>
          <a:xfrm>
            <a:off x="5852160" y="3650307"/>
            <a:ext cx="2103121" cy="563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</a:defRPr>
            </a:pPr>
            <a:r>
              <a:t>실전 상황 기반</a:t>
            </a:r>
          </a:p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</a:defRPr>
            </a:pPr>
            <a:r>
              <a:t>복합 미션 수행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 txBox="1"/>
          <p:nvPr/>
        </p:nvSpPr>
        <p:spPr>
          <a:xfrm>
            <a:off x="594360" y="320039"/>
            <a:ext cx="7955279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기술 스택</a:t>
            </a:r>
          </a:p>
        </p:txBody>
      </p:sp>
      <p:sp>
        <p:nvSpPr>
          <p:cNvPr id="79" name="Shape 1"/>
          <p:cNvSpPr/>
          <p:nvPr/>
        </p:nvSpPr>
        <p:spPr>
          <a:xfrm>
            <a:off x="457200" y="1005839"/>
            <a:ext cx="2560321" cy="3474722"/>
          </a:xfrm>
          <a:prstGeom prst="roundRect">
            <a:avLst>
              <a:gd name="adj" fmla="val 5357"/>
            </a:avLst>
          </a:prstGeom>
          <a:solidFill>
            <a:srgbClr val="161B22"/>
          </a:solidFill>
          <a:ln w="19050">
            <a:solidFill>
              <a:srgbClr val="89B4F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2"/>
          <p:cNvSpPr txBox="1"/>
          <p:nvPr/>
        </p:nvSpPr>
        <p:spPr>
          <a:xfrm>
            <a:off x="685800" y="1186881"/>
            <a:ext cx="210312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89B4FA"/>
                </a:solidFill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81" name="Text 3"/>
          <p:cNvSpPr txBox="1"/>
          <p:nvPr/>
        </p:nvSpPr>
        <p:spPr>
          <a:xfrm>
            <a:off x="777240" y="1754562"/>
            <a:ext cx="19202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React</a:t>
            </a:r>
          </a:p>
        </p:txBody>
      </p:sp>
      <p:sp>
        <p:nvSpPr>
          <p:cNvPr id="82" name="Text 4"/>
          <p:cNvSpPr txBox="1"/>
          <p:nvPr/>
        </p:nvSpPr>
        <p:spPr>
          <a:xfrm>
            <a:off x="777240" y="2230050"/>
            <a:ext cx="19202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Vite</a:t>
            </a:r>
          </a:p>
        </p:txBody>
      </p:sp>
      <p:sp>
        <p:nvSpPr>
          <p:cNvPr id="83" name="Text 5"/>
          <p:cNvSpPr txBox="1"/>
          <p:nvPr/>
        </p:nvSpPr>
        <p:spPr>
          <a:xfrm>
            <a:off x="777240" y="2705539"/>
            <a:ext cx="192024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React Router</a:t>
            </a:r>
          </a:p>
        </p:txBody>
      </p:sp>
      <p:sp>
        <p:nvSpPr>
          <p:cNvPr id="84" name="Text 6"/>
          <p:cNvSpPr txBox="1"/>
          <p:nvPr/>
        </p:nvSpPr>
        <p:spPr>
          <a:xfrm>
            <a:off x="777240" y="3181027"/>
            <a:ext cx="19202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Axios</a:t>
            </a:r>
          </a:p>
        </p:txBody>
      </p:sp>
      <p:sp>
        <p:nvSpPr>
          <p:cNvPr id="85" name="Text 7"/>
          <p:cNvSpPr txBox="1"/>
          <p:nvPr/>
        </p:nvSpPr>
        <p:spPr>
          <a:xfrm>
            <a:off x="777240" y="3656514"/>
            <a:ext cx="19202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CSS Modules</a:t>
            </a:r>
          </a:p>
        </p:txBody>
      </p:sp>
      <p:sp>
        <p:nvSpPr>
          <p:cNvPr id="86" name="Shape 8"/>
          <p:cNvSpPr/>
          <p:nvPr/>
        </p:nvSpPr>
        <p:spPr>
          <a:xfrm>
            <a:off x="3291840" y="1005839"/>
            <a:ext cx="2560321" cy="3474722"/>
          </a:xfrm>
          <a:prstGeom prst="roundRect">
            <a:avLst>
              <a:gd name="adj" fmla="val 5357"/>
            </a:avLst>
          </a:prstGeom>
          <a:solidFill>
            <a:srgbClr val="161B22"/>
          </a:solidFill>
          <a:ln w="19050">
            <a:solidFill>
              <a:srgbClr val="A6E3A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9"/>
          <p:cNvSpPr txBox="1"/>
          <p:nvPr/>
        </p:nvSpPr>
        <p:spPr>
          <a:xfrm>
            <a:off x="3520440" y="1186881"/>
            <a:ext cx="210312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A6E3A1"/>
                </a:solidFill>
              </a:defRPr>
            </a:lvl1pPr>
          </a:lstStyle>
          <a:p>
            <a:pPr/>
            <a:r>
              <a:t>Backend</a:t>
            </a:r>
          </a:p>
        </p:txBody>
      </p:sp>
      <p:sp>
        <p:nvSpPr>
          <p:cNvPr id="88" name="Text 10"/>
          <p:cNvSpPr txBox="1"/>
          <p:nvPr/>
        </p:nvSpPr>
        <p:spPr>
          <a:xfrm>
            <a:off x="3520440" y="1754562"/>
            <a:ext cx="210312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Node.js</a:t>
            </a:r>
          </a:p>
        </p:txBody>
      </p:sp>
      <p:sp>
        <p:nvSpPr>
          <p:cNvPr id="89" name="Text 11"/>
          <p:cNvSpPr txBox="1"/>
          <p:nvPr/>
        </p:nvSpPr>
        <p:spPr>
          <a:xfrm>
            <a:off x="3520440" y="2230050"/>
            <a:ext cx="210312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Express</a:t>
            </a:r>
          </a:p>
        </p:txBody>
      </p:sp>
      <p:sp>
        <p:nvSpPr>
          <p:cNvPr id="90" name="Text 12"/>
          <p:cNvSpPr txBox="1"/>
          <p:nvPr/>
        </p:nvSpPr>
        <p:spPr>
          <a:xfrm>
            <a:off x="3520440" y="2705539"/>
            <a:ext cx="210312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Knex.js</a:t>
            </a:r>
          </a:p>
        </p:txBody>
      </p:sp>
      <p:sp>
        <p:nvSpPr>
          <p:cNvPr id="91" name="Text 13"/>
          <p:cNvSpPr txBox="1"/>
          <p:nvPr/>
        </p:nvSpPr>
        <p:spPr>
          <a:xfrm>
            <a:off x="3520440" y="3181027"/>
            <a:ext cx="210312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Virtual Engine</a:t>
            </a:r>
          </a:p>
        </p:txBody>
      </p:sp>
      <p:sp>
        <p:nvSpPr>
          <p:cNvPr id="92" name="Text 14"/>
          <p:cNvSpPr txBox="1"/>
          <p:nvPr/>
        </p:nvSpPr>
        <p:spPr>
          <a:xfrm>
            <a:off x="3520440" y="3656514"/>
            <a:ext cx="210312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JWT Auth</a:t>
            </a:r>
          </a:p>
        </p:txBody>
      </p:sp>
      <p:sp>
        <p:nvSpPr>
          <p:cNvPr id="93" name="Shape 15"/>
          <p:cNvSpPr/>
          <p:nvPr/>
        </p:nvSpPr>
        <p:spPr>
          <a:xfrm>
            <a:off x="6126479" y="1005839"/>
            <a:ext cx="2560321" cy="3474722"/>
          </a:xfrm>
          <a:prstGeom prst="roundRect">
            <a:avLst>
              <a:gd name="adj" fmla="val 5357"/>
            </a:avLst>
          </a:prstGeom>
          <a:solidFill>
            <a:srgbClr val="161B22"/>
          </a:solidFill>
          <a:ln w="19050">
            <a:solidFill>
              <a:srgbClr val="F9E2A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16"/>
          <p:cNvSpPr txBox="1"/>
          <p:nvPr/>
        </p:nvSpPr>
        <p:spPr>
          <a:xfrm>
            <a:off x="6355079" y="1186881"/>
            <a:ext cx="210312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F9E2AF"/>
                </a:solidFill>
              </a:defRPr>
            </a:lvl1pPr>
          </a:lstStyle>
          <a:p>
            <a:pPr/>
            <a:r>
              <a:t>Infra / DB</a:t>
            </a:r>
          </a:p>
        </p:txBody>
      </p:sp>
      <p:sp>
        <p:nvSpPr>
          <p:cNvPr id="95" name="Text 17"/>
          <p:cNvSpPr txBox="1"/>
          <p:nvPr/>
        </p:nvSpPr>
        <p:spPr>
          <a:xfrm>
            <a:off x="6355079" y="1754562"/>
            <a:ext cx="210312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Supabase</a:t>
            </a:r>
          </a:p>
        </p:txBody>
      </p:sp>
      <p:sp>
        <p:nvSpPr>
          <p:cNvPr id="96" name="Text 18"/>
          <p:cNvSpPr txBox="1"/>
          <p:nvPr/>
        </p:nvSpPr>
        <p:spPr>
          <a:xfrm>
            <a:off x="6355079" y="2230050"/>
            <a:ext cx="210312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Vercel</a:t>
            </a:r>
          </a:p>
        </p:txBody>
      </p:sp>
      <p:sp>
        <p:nvSpPr>
          <p:cNvPr id="97" name="Text 19"/>
          <p:cNvSpPr txBox="1"/>
          <p:nvPr/>
        </p:nvSpPr>
        <p:spPr>
          <a:xfrm>
            <a:off x="6355079" y="2705539"/>
            <a:ext cx="210312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Render</a:t>
            </a:r>
          </a:p>
        </p:txBody>
      </p:sp>
      <p:sp>
        <p:nvSpPr>
          <p:cNvPr id="98" name="Text 20"/>
          <p:cNvSpPr txBox="1"/>
          <p:nvPr/>
        </p:nvSpPr>
        <p:spPr>
          <a:xfrm>
            <a:off x="6355079" y="3181027"/>
            <a:ext cx="210312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GitHub</a:t>
            </a:r>
          </a:p>
        </p:txBody>
      </p:sp>
      <p:sp>
        <p:nvSpPr>
          <p:cNvPr id="99" name="Text 21"/>
          <p:cNvSpPr txBox="1"/>
          <p:nvPr/>
        </p:nvSpPr>
        <p:spPr>
          <a:xfrm>
            <a:off x="6355079" y="3656514"/>
            <a:ext cx="210312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PostgreSQL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 txBox="1"/>
          <p:nvPr/>
        </p:nvSpPr>
        <p:spPr>
          <a:xfrm>
            <a:off x="594359" y="816610"/>
            <a:ext cx="100584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2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&gt;_</a:t>
            </a:r>
          </a:p>
        </p:txBody>
      </p:sp>
      <p:sp>
        <p:nvSpPr>
          <p:cNvPr id="104" name="Text 1"/>
          <p:cNvSpPr txBox="1"/>
          <p:nvPr/>
        </p:nvSpPr>
        <p:spPr>
          <a:xfrm>
            <a:off x="1600200" y="826159"/>
            <a:ext cx="7040879" cy="542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CommandCraftTutorial</a:t>
            </a:r>
          </a:p>
        </p:txBody>
      </p:sp>
      <p:sp>
        <p:nvSpPr>
          <p:cNvPr id="105" name="Shape 2"/>
          <p:cNvSpPr/>
          <p:nvPr/>
        </p:nvSpPr>
        <p:spPr>
          <a:xfrm>
            <a:off x="548640" y="1508760"/>
            <a:ext cx="8046719" cy="27433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Text 3"/>
          <p:cNvSpPr txBox="1"/>
          <p:nvPr/>
        </p:nvSpPr>
        <p:spPr>
          <a:xfrm>
            <a:off x="607060" y="1944369"/>
            <a:ext cx="7955279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8B949E"/>
                </a:solidFill>
              </a:defRPr>
            </a:lvl1pPr>
          </a:lstStyle>
          <a:p>
            <a:pPr/>
            <a:r>
              <a:t>명령어를 배우는 가장 재미있는 방법</a:t>
            </a:r>
          </a:p>
        </p:txBody>
      </p:sp>
      <p:sp>
        <p:nvSpPr>
          <p:cNvPr id="107" name="Shape 4"/>
          <p:cNvSpPr/>
          <p:nvPr/>
        </p:nvSpPr>
        <p:spPr>
          <a:xfrm>
            <a:off x="965200" y="2489200"/>
            <a:ext cx="2194561" cy="13716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" name="Text 5"/>
          <p:cNvSpPr txBox="1"/>
          <p:nvPr/>
        </p:nvSpPr>
        <p:spPr>
          <a:xfrm>
            <a:off x="1010919" y="2622728"/>
            <a:ext cx="2103122" cy="60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4000">
                <a:solidFill>
                  <a:srgbClr val="A6E3A1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9" name="Text 6"/>
          <p:cNvSpPr txBox="1"/>
          <p:nvPr/>
        </p:nvSpPr>
        <p:spPr>
          <a:xfrm>
            <a:off x="1010919" y="3302000"/>
            <a:ext cx="2103122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8B949E"/>
                </a:solidFill>
              </a:defRPr>
            </a:lvl1pPr>
          </a:lstStyle>
          <a:p>
            <a:pPr/>
            <a:r>
              <a:t>카테고리</a:t>
            </a:r>
          </a:p>
        </p:txBody>
      </p:sp>
      <p:sp>
        <p:nvSpPr>
          <p:cNvPr id="110" name="Shape 7"/>
          <p:cNvSpPr/>
          <p:nvPr/>
        </p:nvSpPr>
        <p:spPr>
          <a:xfrm>
            <a:off x="3525520" y="2489200"/>
            <a:ext cx="2194561" cy="13716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" name="Text 8"/>
          <p:cNvSpPr txBox="1"/>
          <p:nvPr/>
        </p:nvSpPr>
        <p:spPr>
          <a:xfrm>
            <a:off x="3571240" y="2622728"/>
            <a:ext cx="2103121" cy="60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4000">
                <a:solidFill>
                  <a:srgbClr val="89B4FA"/>
                </a:solidFill>
              </a:defRPr>
            </a:lvl1pPr>
          </a:lstStyle>
          <a:p>
            <a:pPr/>
            <a:r>
              <a:t>179</a:t>
            </a:r>
          </a:p>
        </p:txBody>
      </p:sp>
      <p:sp>
        <p:nvSpPr>
          <p:cNvPr id="112" name="Text 9"/>
          <p:cNvSpPr txBox="1"/>
          <p:nvPr/>
        </p:nvSpPr>
        <p:spPr>
          <a:xfrm>
            <a:off x="3571240" y="3302000"/>
            <a:ext cx="21031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8B949E"/>
                </a:solidFill>
              </a:defRPr>
            </a:lvl1pPr>
          </a:lstStyle>
          <a:p>
            <a:pPr/>
            <a:r>
              <a:t>스테이지</a:t>
            </a:r>
          </a:p>
        </p:txBody>
      </p:sp>
      <p:sp>
        <p:nvSpPr>
          <p:cNvPr id="113" name="Shape 10"/>
          <p:cNvSpPr/>
          <p:nvPr/>
        </p:nvSpPr>
        <p:spPr>
          <a:xfrm>
            <a:off x="6085840" y="2489200"/>
            <a:ext cx="2194561" cy="13716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" name="Text 11"/>
          <p:cNvSpPr txBox="1"/>
          <p:nvPr/>
        </p:nvSpPr>
        <p:spPr>
          <a:xfrm>
            <a:off x="6131560" y="2622728"/>
            <a:ext cx="2103121" cy="60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4000">
                <a:solidFill>
                  <a:srgbClr val="F9E2A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5" name="Text 12"/>
          <p:cNvSpPr txBox="1"/>
          <p:nvPr/>
        </p:nvSpPr>
        <p:spPr>
          <a:xfrm>
            <a:off x="6131560" y="3302000"/>
            <a:ext cx="21031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8B949E"/>
                </a:solidFill>
              </a:defRPr>
            </a:lvl1pPr>
          </a:lstStyle>
          <a:p>
            <a:pPr/>
            <a:r>
              <a:t>난이도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 txBox="1"/>
          <p:nvPr/>
        </p:nvSpPr>
        <p:spPr>
          <a:xfrm>
            <a:off x="594359" y="816610"/>
            <a:ext cx="100584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2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&gt;_</a:t>
            </a:r>
          </a:p>
        </p:txBody>
      </p:sp>
      <p:sp>
        <p:nvSpPr>
          <p:cNvPr id="120" name="Text 1"/>
          <p:cNvSpPr txBox="1"/>
          <p:nvPr/>
        </p:nvSpPr>
        <p:spPr>
          <a:xfrm>
            <a:off x="1600200" y="826159"/>
            <a:ext cx="7040879" cy="542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CommandCraftTutorial</a:t>
            </a:r>
          </a:p>
        </p:txBody>
      </p:sp>
      <p:sp>
        <p:nvSpPr>
          <p:cNvPr id="121" name="Shape 2"/>
          <p:cNvSpPr/>
          <p:nvPr/>
        </p:nvSpPr>
        <p:spPr>
          <a:xfrm>
            <a:off x="548640" y="1508760"/>
            <a:ext cx="8046719" cy="27433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Shape 7"/>
          <p:cNvSpPr/>
          <p:nvPr/>
        </p:nvSpPr>
        <p:spPr>
          <a:xfrm>
            <a:off x="520743" y="2286000"/>
            <a:ext cx="8102514" cy="13716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" name="https://cct-teal.vercel.app/"/>
          <p:cNvSpPr txBox="1"/>
          <p:nvPr/>
        </p:nvSpPr>
        <p:spPr>
          <a:xfrm>
            <a:off x="3274238" y="2805256"/>
            <a:ext cx="2647204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https://cct-teal.vercel.app/</a:t>
            </a: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 txBox="1"/>
          <p:nvPr/>
        </p:nvSpPr>
        <p:spPr>
          <a:xfrm>
            <a:off x="594359" y="2035809"/>
            <a:ext cx="100584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2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&gt;_</a:t>
            </a:r>
          </a:p>
        </p:txBody>
      </p:sp>
      <p:sp>
        <p:nvSpPr>
          <p:cNvPr id="128" name="Text 1"/>
          <p:cNvSpPr txBox="1"/>
          <p:nvPr/>
        </p:nvSpPr>
        <p:spPr>
          <a:xfrm>
            <a:off x="1600200" y="2045359"/>
            <a:ext cx="7040879" cy="542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CommandCraftTutorial</a:t>
            </a:r>
          </a:p>
        </p:txBody>
      </p:sp>
      <p:sp>
        <p:nvSpPr>
          <p:cNvPr id="129" name="Shape 2"/>
          <p:cNvSpPr/>
          <p:nvPr/>
        </p:nvSpPr>
        <p:spPr>
          <a:xfrm>
            <a:off x="548640" y="2727960"/>
            <a:ext cx="8046719" cy="27433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텍스트"/>
          <p:cNvSpPr txBox="1"/>
          <p:nvPr/>
        </p:nvSpPr>
        <p:spPr>
          <a:xfrm>
            <a:off x="3274238" y="2805256"/>
            <a:ext cx="15582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131" name="Text 1"/>
          <p:cNvSpPr txBox="1"/>
          <p:nvPr/>
        </p:nvSpPr>
        <p:spPr>
          <a:xfrm>
            <a:off x="3812614" y="4072821"/>
            <a:ext cx="1518772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500">
                <a:solidFill>
                  <a:srgbClr val="FFFFFF"/>
                </a:solidFill>
              </a:defRPr>
            </a:lvl1pPr>
          </a:lstStyle>
          <a:p>
            <a:pPr/>
            <a:r>
              <a:t>감사합니다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