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" name="Shape 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프로젝트 소개 슬라이드입니다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CCT</a:t>
            </a:r>
            <a:r>
              <a:t>는 터미널 명령어를 게임처럼 배울 수 있는 웹 플랫폼입니다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기존 터미널 학습의 문제점과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CCT</a:t>
            </a:r>
            <a:r>
              <a:t>가 어떻게 해결하는지 설명합니다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" name="Shape 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CCT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</a:t>
            </a:r>
            <a:r>
              <a:t>6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가지 핵심 기능을 소개합니다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프론트엔드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, </a:t>
            </a:r>
            <a:r>
              <a:t>백엔드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, </a:t>
            </a:r>
            <a:r>
              <a:t>인프라 기술 스택을 설명합니다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마무리 슬라이드입니다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r>
              <a:t>질문을 받을 준비를 합니다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마무리 슬라이드입니다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r>
              <a:t>질문을 받을 준비를 합니다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마무리 슬라이드입니다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r>
              <a:t>질문을 받을 준비를 합니다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6294578" y="464311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ct-teal.vercel.app/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594359" y="725169"/>
            <a:ext cx="1005843" cy="56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2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&gt;_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1600200" y="731172"/>
            <a:ext cx="7040879" cy="549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CommandCraftTutorial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94360" y="1466850"/>
            <a:ext cx="795527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터미널 명령어를 게임처럼 배우는 학습 플랫폼</a:t>
            </a:r>
          </a:p>
        </p:txBody>
      </p:sp>
      <p:sp>
        <p:nvSpPr>
          <p:cNvPr id="23" name="Shape 3"/>
          <p:cNvSpPr/>
          <p:nvPr/>
        </p:nvSpPr>
        <p:spPr>
          <a:xfrm>
            <a:off x="548640" y="1965960"/>
            <a:ext cx="8046719" cy="2743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" name="Shape 4"/>
          <p:cNvSpPr/>
          <p:nvPr/>
        </p:nvSpPr>
        <p:spPr>
          <a:xfrm>
            <a:off x="548640" y="2194560"/>
            <a:ext cx="1371601" cy="411482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9050">
            <a:solidFill>
              <a:srgbClr val="A6E3A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" name="Text 5"/>
          <p:cNvSpPr txBox="1"/>
          <p:nvPr/>
        </p:nvSpPr>
        <p:spPr>
          <a:xfrm>
            <a:off x="594359" y="2259900"/>
            <a:ext cx="12801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A6E3A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Git</a:t>
            </a:r>
          </a:p>
        </p:txBody>
      </p:sp>
      <p:sp>
        <p:nvSpPr>
          <p:cNvPr id="26" name="Shape 6"/>
          <p:cNvSpPr/>
          <p:nvPr/>
        </p:nvSpPr>
        <p:spPr>
          <a:xfrm>
            <a:off x="2148838" y="2194560"/>
            <a:ext cx="1371602" cy="411482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9050">
            <a:solidFill>
              <a:srgbClr val="89B4F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" name="Text 7"/>
          <p:cNvSpPr txBox="1"/>
          <p:nvPr/>
        </p:nvSpPr>
        <p:spPr>
          <a:xfrm>
            <a:off x="2194560" y="2259900"/>
            <a:ext cx="12801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89B4F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Linux</a:t>
            </a:r>
          </a:p>
        </p:txBody>
      </p:sp>
      <p:sp>
        <p:nvSpPr>
          <p:cNvPr id="28" name="Shape 8"/>
          <p:cNvSpPr/>
          <p:nvPr/>
        </p:nvSpPr>
        <p:spPr>
          <a:xfrm>
            <a:off x="3749040" y="2194560"/>
            <a:ext cx="1371602" cy="411482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9050">
            <a:solidFill>
              <a:srgbClr val="F38BA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" name="Text 9"/>
          <p:cNvSpPr txBox="1"/>
          <p:nvPr/>
        </p:nvSpPr>
        <p:spPr>
          <a:xfrm>
            <a:off x="3794759" y="2259900"/>
            <a:ext cx="12801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38BA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GDB</a:t>
            </a:r>
          </a:p>
        </p:txBody>
      </p:sp>
      <p:sp>
        <p:nvSpPr>
          <p:cNvPr id="30" name="Shape 10"/>
          <p:cNvSpPr/>
          <p:nvPr/>
        </p:nvSpPr>
        <p:spPr>
          <a:xfrm>
            <a:off x="5349240" y="2194560"/>
            <a:ext cx="1371602" cy="411482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9050">
            <a:solidFill>
              <a:srgbClr val="F9E2A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" name="Text 11"/>
          <p:cNvSpPr txBox="1"/>
          <p:nvPr/>
        </p:nvSpPr>
        <p:spPr>
          <a:xfrm>
            <a:off x="5394959" y="2259900"/>
            <a:ext cx="12801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9E2A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PDB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594359" y="2899411"/>
            <a:ext cx="7223760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git init</a:t>
            </a:r>
          </a:p>
        </p:txBody>
      </p:sp>
      <p:sp>
        <p:nvSpPr>
          <p:cNvPr id="33" name="Text 13"/>
          <p:cNvSpPr txBox="1"/>
          <p:nvPr/>
        </p:nvSpPr>
        <p:spPr>
          <a:xfrm>
            <a:off x="594359" y="3265171"/>
            <a:ext cx="7223760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git add .</a:t>
            </a:r>
          </a:p>
        </p:txBody>
      </p:sp>
      <p:sp>
        <p:nvSpPr>
          <p:cNvPr id="34" name="Text 14"/>
          <p:cNvSpPr txBox="1"/>
          <p:nvPr/>
        </p:nvSpPr>
        <p:spPr>
          <a:xfrm>
            <a:off x="594359" y="3630930"/>
            <a:ext cx="7223760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git commit -m 'first commit'</a:t>
            </a:r>
          </a:p>
        </p:txBody>
      </p:sp>
      <p:sp>
        <p:nvSpPr>
          <p:cNvPr id="35" name="Text 15"/>
          <p:cNvSpPr txBox="1"/>
          <p:nvPr/>
        </p:nvSpPr>
        <p:spPr>
          <a:xfrm>
            <a:off x="594359" y="4093210"/>
            <a:ext cx="356616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9E2A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🏆 +100점 획득!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 txBox="1"/>
          <p:nvPr/>
        </p:nvSpPr>
        <p:spPr>
          <a:xfrm>
            <a:off x="594360" y="320040"/>
            <a:ext cx="7955279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왜 만들었나요?</a:t>
            </a:r>
          </a:p>
        </p:txBody>
      </p:sp>
      <p:sp>
        <p:nvSpPr>
          <p:cNvPr id="40" name="Shape 1"/>
          <p:cNvSpPr/>
          <p:nvPr/>
        </p:nvSpPr>
        <p:spPr>
          <a:xfrm>
            <a:off x="457200" y="1005838"/>
            <a:ext cx="3840480" cy="3291844"/>
          </a:xfrm>
          <a:prstGeom prst="roundRect">
            <a:avLst>
              <a:gd name="adj" fmla="val 4167"/>
            </a:avLst>
          </a:prstGeom>
          <a:solidFill>
            <a:srgbClr val="1A0A0A"/>
          </a:solidFill>
          <a:ln w="19050">
            <a:solidFill>
              <a:srgbClr val="F38BA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" name="Text 2"/>
          <p:cNvSpPr txBox="1"/>
          <p:nvPr/>
        </p:nvSpPr>
        <p:spPr>
          <a:xfrm>
            <a:off x="685800" y="1144269"/>
            <a:ext cx="3383280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38BA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❌  기존 방식의 문제</a:t>
            </a:r>
          </a:p>
        </p:txBody>
      </p:sp>
      <p:sp>
        <p:nvSpPr>
          <p:cNvPr id="42" name="Text 3"/>
          <p:cNvSpPr txBox="1"/>
          <p:nvPr/>
        </p:nvSpPr>
        <p:spPr>
          <a:xfrm>
            <a:off x="822958" y="1736344"/>
            <a:ext cx="3200404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8C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단순 암기 위주의 학습</a:t>
            </a:r>
          </a:p>
        </p:txBody>
      </p:sp>
      <p:sp>
        <p:nvSpPr>
          <p:cNvPr id="43" name="Text 4"/>
          <p:cNvSpPr txBox="1"/>
          <p:nvPr/>
        </p:nvSpPr>
        <p:spPr>
          <a:xfrm>
            <a:off x="822958" y="2211832"/>
            <a:ext cx="3200404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8C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실습 없이 이론만 반복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822958" y="2687319"/>
            <a:ext cx="3200404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8C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피드백이 없어 흥미 저하</a:t>
            </a:r>
          </a:p>
        </p:txBody>
      </p:sp>
      <p:sp>
        <p:nvSpPr>
          <p:cNvPr id="45" name="Text 6"/>
          <p:cNvSpPr txBox="1"/>
          <p:nvPr/>
        </p:nvSpPr>
        <p:spPr>
          <a:xfrm>
            <a:off x="822958" y="3162809"/>
            <a:ext cx="3200404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8C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실전 감각 부족</a:t>
            </a:r>
          </a:p>
        </p:txBody>
      </p:sp>
      <p:sp>
        <p:nvSpPr>
          <p:cNvPr id="46" name="Shape 7"/>
          <p:cNvSpPr/>
          <p:nvPr/>
        </p:nvSpPr>
        <p:spPr>
          <a:xfrm>
            <a:off x="4754879" y="1005838"/>
            <a:ext cx="3840482" cy="3291844"/>
          </a:xfrm>
          <a:prstGeom prst="roundRect">
            <a:avLst>
              <a:gd name="adj" fmla="val 4167"/>
            </a:avLst>
          </a:prstGeom>
          <a:solidFill>
            <a:srgbClr val="0A1A0A"/>
          </a:solidFill>
          <a:ln w="19050">
            <a:solidFill>
              <a:srgbClr val="A6E3A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" name="Text 8"/>
          <p:cNvSpPr txBox="1"/>
          <p:nvPr/>
        </p:nvSpPr>
        <p:spPr>
          <a:xfrm>
            <a:off x="4983479" y="1144269"/>
            <a:ext cx="338328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A6E3A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✅  CCT의 해결책</a:t>
            </a:r>
          </a:p>
        </p:txBody>
      </p:sp>
      <p:sp>
        <p:nvSpPr>
          <p:cNvPr id="48" name="Text 9"/>
          <p:cNvSpPr txBox="1"/>
          <p:nvPr/>
        </p:nvSpPr>
        <p:spPr>
          <a:xfrm>
            <a:off x="4983479" y="1736344"/>
            <a:ext cx="338328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C4E8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직접 입력하며 배우는 실습</a:t>
            </a:r>
          </a:p>
        </p:txBody>
      </p:sp>
      <p:sp>
        <p:nvSpPr>
          <p:cNvPr id="49" name="Text 10"/>
          <p:cNvSpPr txBox="1"/>
          <p:nvPr/>
        </p:nvSpPr>
        <p:spPr>
          <a:xfrm>
            <a:off x="4983479" y="2211832"/>
            <a:ext cx="338328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C4E8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즉각적인 채점 &amp; 피드백</a:t>
            </a:r>
          </a:p>
        </p:txBody>
      </p:sp>
      <p:sp>
        <p:nvSpPr>
          <p:cNvPr id="50" name="Text 11"/>
          <p:cNvSpPr txBox="1"/>
          <p:nvPr/>
        </p:nvSpPr>
        <p:spPr>
          <a:xfrm>
            <a:off x="4983479" y="2687319"/>
            <a:ext cx="338328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C4E8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게임화로 학습 동기 부여</a:t>
            </a:r>
          </a:p>
        </p:txBody>
      </p:sp>
      <p:sp>
        <p:nvSpPr>
          <p:cNvPr id="51" name="Text 12"/>
          <p:cNvSpPr txBox="1"/>
          <p:nvPr/>
        </p:nvSpPr>
        <p:spPr>
          <a:xfrm>
            <a:off x="4983479" y="3162809"/>
            <a:ext cx="338328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C4E8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시나리오형 심화 미션</a:t>
            </a:r>
          </a:p>
        </p:txBody>
      </p:sp>
      <p:sp>
        <p:nvSpPr>
          <p:cNvPr id="52" name="Shape 13"/>
          <p:cNvSpPr/>
          <p:nvPr/>
        </p:nvSpPr>
        <p:spPr>
          <a:xfrm>
            <a:off x="4343400" y="2606039"/>
            <a:ext cx="411481" cy="2"/>
          </a:xfrm>
          <a:prstGeom prst="line">
            <a:avLst/>
          </a:prstGeom>
          <a:ln w="25400">
            <a:solidFill>
              <a:srgbClr val="8B949E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594360" y="320040"/>
            <a:ext cx="7955279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주요 기능</a:t>
            </a:r>
          </a:p>
        </p:txBody>
      </p:sp>
      <p:sp>
        <p:nvSpPr>
          <p:cNvPr id="57" name="Shape 1"/>
          <p:cNvSpPr/>
          <p:nvPr/>
        </p:nvSpPr>
        <p:spPr>
          <a:xfrm>
            <a:off x="457200" y="1005838"/>
            <a:ext cx="2468880" cy="1645924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" name="Text 2"/>
          <p:cNvSpPr txBox="1"/>
          <p:nvPr/>
        </p:nvSpPr>
        <p:spPr>
          <a:xfrm>
            <a:off x="640079" y="1179830"/>
            <a:ext cx="2103123" cy="3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A6E3A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🎮  단계별 미션</a:t>
            </a:r>
          </a:p>
        </p:txBody>
      </p:sp>
      <p:sp>
        <p:nvSpPr>
          <p:cNvPr id="59" name="Text 3"/>
          <p:cNvSpPr txBox="1"/>
          <p:nvPr/>
        </p:nvSpPr>
        <p:spPr>
          <a:xfrm>
            <a:off x="640079" y="1775787"/>
            <a:ext cx="2103123" cy="56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기초→중급→심화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난이도별 스테이지</a:t>
            </a:r>
          </a:p>
        </p:txBody>
      </p:sp>
      <p:sp>
        <p:nvSpPr>
          <p:cNvPr id="60" name="Shape 4"/>
          <p:cNvSpPr/>
          <p:nvPr/>
        </p:nvSpPr>
        <p:spPr>
          <a:xfrm>
            <a:off x="3063238" y="1005838"/>
            <a:ext cx="2468883" cy="1645924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" name="Text 5"/>
          <p:cNvSpPr txBox="1"/>
          <p:nvPr/>
        </p:nvSpPr>
        <p:spPr>
          <a:xfrm>
            <a:off x="3246118" y="1179830"/>
            <a:ext cx="2103122" cy="3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89B4F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⚡  실시간 채점</a:t>
            </a:r>
          </a:p>
        </p:txBody>
      </p:sp>
      <p:sp>
        <p:nvSpPr>
          <p:cNvPr id="62" name="Text 6"/>
          <p:cNvSpPr txBox="1"/>
          <p:nvPr/>
        </p:nvSpPr>
        <p:spPr>
          <a:xfrm>
            <a:off x="3246118" y="1775787"/>
            <a:ext cx="2103122" cy="56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명령어 입력 즉시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정답 여부 판별</a:t>
            </a:r>
          </a:p>
        </p:txBody>
      </p:sp>
      <p:sp>
        <p:nvSpPr>
          <p:cNvPr id="63" name="Shape 7"/>
          <p:cNvSpPr/>
          <p:nvPr/>
        </p:nvSpPr>
        <p:spPr>
          <a:xfrm>
            <a:off x="5669279" y="1005838"/>
            <a:ext cx="2468882" cy="1645924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" name="Text 8"/>
          <p:cNvSpPr txBox="1"/>
          <p:nvPr/>
        </p:nvSpPr>
        <p:spPr>
          <a:xfrm>
            <a:off x="5852159" y="1179830"/>
            <a:ext cx="2103122" cy="3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9E2A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🔧  가상 엔진</a:t>
            </a:r>
          </a:p>
        </p:txBody>
      </p:sp>
      <p:sp>
        <p:nvSpPr>
          <p:cNvPr id="65" name="Text 9"/>
          <p:cNvSpPr txBox="1"/>
          <p:nvPr/>
        </p:nvSpPr>
        <p:spPr>
          <a:xfrm>
            <a:off x="5852159" y="1775787"/>
            <a:ext cx="2103122" cy="56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실제 Git/Linux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환경 시뮬레이션</a:t>
            </a:r>
          </a:p>
        </p:txBody>
      </p:sp>
      <p:sp>
        <p:nvSpPr>
          <p:cNvPr id="66" name="Shape 10"/>
          <p:cNvSpPr/>
          <p:nvPr/>
        </p:nvSpPr>
        <p:spPr>
          <a:xfrm>
            <a:off x="457200" y="2880360"/>
            <a:ext cx="2468880" cy="1645922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" name="Text 11"/>
          <p:cNvSpPr txBox="1"/>
          <p:nvPr/>
        </p:nvSpPr>
        <p:spPr>
          <a:xfrm>
            <a:off x="640079" y="3054350"/>
            <a:ext cx="2103123" cy="383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38BA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🏆  점수 &amp; 랭킹</a:t>
            </a:r>
          </a:p>
        </p:txBody>
      </p:sp>
      <p:sp>
        <p:nvSpPr>
          <p:cNvPr id="68" name="Text 12"/>
          <p:cNvSpPr txBox="1"/>
          <p:nvPr/>
        </p:nvSpPr>
        <p:spPr>
          <a:xfrm>
            <a:off x="640079" y="3650308"/>
            <a:ext cx="2103123" cy="563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게임화된 학습으로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성취감 제공</a:t>
            </a:r>
          </a:p>
        </p:txBody>
      </p:sp>
      <p:sp>
        <p:nvSpPr>
          <p:cNvPr id="69" name="Shape 13"/>
          <p:cNvSpPr/>
          <p:nvPr/>
        </p:nvSpPr>
        <p:spPr>
          <a:xfrm>
            <a:off x="3063238" y="2880360"/>
            <a:ext cx="2468883" cy="1645922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" name="Text 14"/>
          <p:cNvSpPr txBox="1"/>
          <p:nvPr/>
        </p:nvSpPr>
        <p:spPr>
          <a:xfrm>
            <a:off x="3246118" y="3054350"/>
            <a:ext cx="2103122" cy="383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A6E3A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💡  힌트 시스템</a:t>
            </a:r>
          </a:p>
        </p:txBody>
      </p:sp>
      <p:sp>
        <p:nvSpPr>
          <p:cNvPr id="71" name="Text 15"/>
          <p:cNvSpPr txBox="1"/>
          <p:nvPr/>
        </p:nvSpPr>
        <p:spPr>
          <a:xfrm>
            <a:off x="3246118" y="3650308"/>
            <a:ext cx="2103122" cy="563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막힐 때 단계별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힌트 제공</a:t>
            </a:r>
          </a:p>
        </p:txBody>
      </p:sp>
      <p:sp>
        <p:nvSpPr>
          <p:cNvPr id="72" name="Shape 16"/>
          <p:cNvSpPr/>
          <p:nvPr/>
        </p:nvSpPr>
        <p:spPr>
          <a:xfrm>
            <a:off x="5669279" y="2880360"/>
            <a:ext cx="2468882" cy="1645922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" name="Text 17"/>
          <p:cNvSpPr txBox="1"/>
          <p:nvPr/>
        </p:nvSpPr>
        <p:spPr>
          <a:xfrm>
            <a:off x="5852159" y="3054350"/>
            <a:ext cx="2103122" cy="383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89B4F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📋  시나리오 미션</a:t>
            </a:r>
          </a:p>
        </p:txBody>
      </p:sp>
      <p:sp>
        <p:nvSpPr>
          <p:cNvPr id="74" name="Text 18"/>
          <p:cNvSpPr txBox="1"/>
          <p:nvPr/>
        </p:nvSpPr>
        <p:spPr>
          <a:xfrm>
            <a:off x="5852159" y="3650308"/>
            <a:ext cx="2103122" cy="563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실전 상황 기반</a:t>
            </a:r>
          </a:p>
          <a:p>
            <a:pPr>
              <a:lnSpc>
                <a:spcPct val="130000"/>
              </a:lnSpc>
              <a:defRPr sz="12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복합 미션 수행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 txBox="1"/>
          <p:nvPr/>
        </p:nvSpPr>
        <p:spPr>
          <a:xfrm>
            <a:off x="594360" y="320040"/>
            <a:ext cx="7955279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기술 스택</a:t>
            </a:r>
          </a:p>
        </p:txBody>
      </p:sp>
      <p:sp>
        <p:nvSpPr>
          <p:cNvPr id="79" name="Shape 1"/>
          <p:cNvSpPr/>
          <p:nvPr/>
        </p:nvSpPr>
        <p:spPr>
          <a:xfrm>
            <a:off x="457200" y="1005838"/>
            <a:ext cx="2560322" cy="3474724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9050">
            <a:solidFill>
              <a:srgbClr val="89B4F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" name="Text 2"/>
          <p:cNvSpPr txBox="1"/>
          <p:nvPr/>
        </p:nvSpPr>
        <p:spPr>
          <a:xfrm>
            <a:off x="685800" y="1186882"/>
            <a:ext cx="2103122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89B4F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81" name="Text 3"/>
          <p:cNvSpPr txBox="1"/>
          <p:nvPr/>
        </p:nvSpPr>
        <p:spPr>
          <a:xfrm>
            <a:off x="777240" y="1754563"/>
            <a:ext cx="1920240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React</a:t>
            </a:r>
          </a:p>
        </p:txBody>
      </p:sp>
      <p:sp>
        <p:nvSpPr>
          <p:cNvPr id="82" name="Text 4"/>
          <p:cNvSpPr txBox="1"/>
          <p:nvPr/>
        </p:nvSpPr>
        <p:spPr>
          <a:xfrm>
            <a:off x="777240" y="2230050"/>
            <a:ext cx="1920240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Vite</a:t>
            </a:r>
          </a:p>
        </p:txBody>
      </p:sp>
      <p:sp>
        <p:nvSpPr>
          <p:cNvPr id="83" name="Text 5"/>
          <p:cNvSpPr txBox="1"/>
          <p:nvPr/>
        </p:nvSpPr>
        <p:spPr>
          <a:xfrm>
            <a:off x="777240" y="2705539"/>
            <a:ext cx="1920240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React Router</a:t>
            </a:r>
          </a:p>
        </p:txBody>
      </p:sp>
      <p:sp>
        <p:nvSpPr>
          <p:cNvPr id="84" name="Text 6"/>
          <p:cNvSpPr txBox="1"/>
          <p:nvPr/>
        </p:nvSpPr>
        <p:spPr>
          <a:xfrm>
            <a:off x="777240" y="3181027"/>
            <a:ext cx="1920240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Axios</a:t>
            </a:r>
          </a:p>
        </p:txBody>
      </p:sp>
      <p:sp>
        <p:nvSpPr>
          <p:cNvPr id="85" name="Text 7"/>
          <p:cNvSpPr txBox="1"/>
          <p:nvPr/>
        </p:nvSpPr>
        <p:spPr>
          <a:xfrm>
            <a:off x="777240" y="3656515"/>
            <a:ext cx="1920240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CSS Modules</a:t>
            </a:r>
          </a:p>
        </p:txBody>
      </p:sp>
      <p:sp>
        <p:nvSpPr>
          <p:cNvPr id="86" name="Shape 8"/>
          <p:cNvSpPr/>
          <p:nvPr/>
        </p:nvSpPr>
        <p:spPr>
          <a:xfrm>
            <a:off x="3291840" y="1005838"/>
            <a:ext cx="2560322" cy="3474724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9050">
            <a:solidFill>
              <a:srgbClr val="A6E3A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" name="Text 9"/>
          <p:cNvSpPr txBox="1"/>
          <p:nvPr/>
        </p:nvSpPr>
        <p:spPr>
          <a:xfrm>
            <a:off x="3520440" y="1186882"/>
            <a:ext cx="2103122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A6E3A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88" name="Text 10"/>
          <p:cNvSpPr txBox="1"/>
          <p:nvPr/>
        </p:nvSpPr>
        <p:spPr>
          <a:xfrm>
            <a:off x="3520440" y="1754563"/>
            <a:ext cx="21031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Node.js</a:t>
            </a:r>
          </a:p>
        </p:txBody>
      </p:sp>
      <p:sp>
        <p:nvSpPr>
          <p:cNvPr id="89" name="Text 11"/>
          <p:cNvSpPr txBox="1"/>
          <p:nvPr/>
        </p:nvSpPr>
        <p:spPr>
          <a:xfrm>
            <a:off x="3520440" y="2230050"/>
            <a:ext cx="21031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Express</a:t>
            </a:r>
          </a:p>
        </p:txBody>
      </p:sp>
      <p:sp>
        <p:nvSpPr>
          <p:cNvPr id="90" name="Text 12"/>
          <p:cNvSpPr txBox="1"/>
          <p:nvPr/>
        </p:nvSpPr>
        <p:spPr>
          <a:xfrm>
            <a:off x="3520440" y="2705539"/>
            <a:ext cx="21031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Knex.js</a:t>
            </a:r>
          </a:p>
        </p:txBody>
      </p:sp>
      <p:sp>
        <p:nvSpPr>
          <p:cNvPr id="91" name="Text 13"/>
          <p:cNvSpPr txBox="1"/>
          <p:nvPr/>
        </p:nvSpPr>
        <p:spPr>
          <a:xfrm>
            <a:off x="3520440" y="3181027"/>
            <a:ext cx="21031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Virtual Engine</a:t>
            </a:r>
          </a:p>
        </p:txBody>
      </p:sp>
      <p:sp>
        <p:nvSpPr>
          <p:cNvPr id="92" name="Text 14"/>
          <p:cNvSpPr txBox="1"/>
          <p:nvPr/>
        </p:nvSpPr>
        <p:spPr>
          <a:xfrm>
            <a:off x="3520440" y="3656515"/>
            <a:ext cx="210312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JWT Auth</a:t>
            </a:r>
          </a:p>
        </p:txBody>
      </p:sp>
      <p:sp>
        <p:nvSpPr>
          <p:cNvPr id="93" name="Shape 15"/>
          <p:cNvSpPr/>
          <p:nvPr/>
        </p:nvSpPr>
        <p:spPr>
          <a:xfrm>
            <a:off x="6126479" y="1005838"/>
            <a:ext cx="2560322" cy="3474724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9050">
            <a:solidFill>
              <a:srgbClr val="F9E2A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4" name="Text 16"/>
          <p:cNvSpPr txBox="1"/>
          <p:nvPr/>
        </p:nvSpPr>
        <p:spPr>
          <a:xfrm>
            <a:off x="6355079" y="1186882"/>
            <a:ext cx="2103122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9E2A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Infra / DB</a:t>
            </a:r>
          </a:p>
        </p:txBody>
      </p:sp>
      <p:sp>
        <p:nvSpPr>
          <p:cNvPr id="95" name="Text 17"/>
          <p:cNvSpPr txBox="1"/>
          <p:nvPr/>
        </p:nvSpPr>
        <p:spPr>
          <a:xfrm>
            <a:off x="6355079" y="1754563"/>
            <a:ext cx="21031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Supabase</a:t>
            </a:r>
          </a:p>
        </p:txBody>
      </p:sp>
      <p:sp>
        <p:nvSpPr>
          <p:cNvPr id="96" name="Text 18"/>
          <p:cNvSpPr txBox="1"/>
          <p:nvPr/>
        </p:nvSpPr>
        <p:spPr>
          <a:xfrm>
            <a:off x="6355079" y="2230050"/>
            <a:ext cx="21031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Vercel</a:t>
            </a:r>
          </a:p>
        </p:txBody>
      </p:sp>
      <p:sp>
        <p:nvSpPr>
          <p:cNvPr id="97" name="Text 19"/>
          <p:cNvSpPr txBox="1"/>
          <p:nvPr/>
        </p:nvSpPr>
        <p:spPr>
          <a:xfrm>
            <a:off x="6355079" y="2705539"/>
            <a:ext cx="21031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Render</a:t>
            </a:r>
          </a:p>
        </p:txBody>
      </p:sp>
      <p:sp>
        <p:nvSpPr>
          <p:cNvPr id="98" name="Text 20"/>
          <p:cNvSpPr txBox="1"/>
          <p:nvPr/>
        </p:nvSpPr>
        <p:spPr>
          <a:xfrm>
            <a:off x="6355079" y="3181027"/>
            <a:ext cx="21031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GitHub</a:t>
            </a:r>
          </a:p>
        </p:txBody>
      </p:sp>
      <p:sp>
        <p:nvSpPr>
          <p:cNvPr id="99" name="Text 21"/>
          <p:cNvSpPr txBox="1"/>
          <p:nvPr/>
        </p:nvSpPr>
        <p:spPr>
          <a:xfrm>
            <a:off x="6355079" y="3656515"/>
            <a:ext cx="210312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PostgreSQL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 txBox="1"/>
          <p:nvPr/>
        </p:nvSpPr>
        <p:spPr>
          <a:xfrm>
            <a:off x="594359" y="816611"/>
            <a:ext cx="1005843" cy="56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2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&gt;_</a:t>
            </a:r>
          </a:p>
        </p:txBody>
      </p:sp>
      <p:sp>
        <p:nvSpPr>
          <p:cNvPr id="104" name="Text 1"/>
          <p:cNvSpPr txBox="1"/>
          <p:nvPr/>
        </p:nvSpPr>
        <p:spPr>
          <a:xfrm>
            <a:off x="1600200" y="826160"/>
            <a:ext cx="7040879" cy="542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CommandCraftTutorial</a:t>
            </a:r>
          </a:p>
        </p:txBody>
      </p:sp>
      <p:sp>
        <p:nvSpPr>
          <p:cNvPr id="105" name="Shape 2"/>
          <p:cNvSpPr/>
          <p:nvPr/>
        </p:nvSpPr>
        <p:spPr>
          <a:xfrm>
            <a:off x="548640" y="1508760"/>
            <a:ext cx="8046719" cy="2743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Text 3"/>
          <p:cNvSpPr txBox="1"/>
          <p:nvPr/>
        </p:nvSpPr>
        <p:spPr>
          <a:xfrm>
            <a:off x="607060" y="1944369"/>
            <a:ext cx="795527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명령어를 배우는 가장 재미있는 방법</a:t>
            </a:r>
          </a:p>
        </p:txBody>
      </p:sp>
      <p:sp>
        <p:nvSpPr>
          <p:cNvPr id="107" name="Shape 4"/>
          <p:cNvSpPr/>
          <p:nvPr/>
        </p:nvSpPr>
        <p:spPr>
          <a:xfrm>
            <a:off x="965200" y="2489200"/>
            <a:ext cx="2194562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Text 5"/>
          <p:cNvSpPr txBox="1"/>
          <p:nvPr/>
        </p:nvSpPr>
        <p:spPr>
          <a:xfrm>
            <a:off x="1010919" y="2622729"/>
            <a:ext cx="2103123" cy="601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4000">
                <a:solidFill>
                  <a:srgbClr val="A6E3A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9" name="Text 6"/>
          <p:cNvSpPr txBox="1"/>
          <p:nvPr/>
        </p:nvSpPr>
        <p:spPr>
          <a:xfrm>
            <a:off x="1010919" y="3302000"/>
            <a:ext cx="2103123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카테고리</a:t>
            </a:r>
          </a:p>
        </p:txBody>
      </p:sp>
      <p:sp>
        <p:nvSpPr>
          <p:cNvPr id="110" name="Shape 7"/>
          <p:cNvSpPr/>
          <p:nvPr/>
        </p:nvSpPr>
        <p:spPr>
          <a:xfrm>
            <a:off x="3525520" y="2489200"/>
            <a:ext cx="2194562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Text 8"/>
          <p:cNvSpPr txBox="1"/>
          <p:nvPr/>
        </p:nvSpPr>
        <p:spPr>
          <a:xfrm>
            <a:off x="3571240" y="2622729"/>
            <a:ext cx="2103122" cy="601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4000">
                <a:solidFill>
                  <a:srgbClr val="89B4F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167</a:t>
            </a:r>
          </a:p>
        </p:txBody>
      </p:sp>
      <p:sp>
        <p:nvSpPr>
          <p:cNvPr id="112" name="Text 9"/>
          <p:cNvSpPr txBox="1"/>
          <p:nvPr/>
        </p:nvSpPr>
        <p:spPr>
          <a:xfrm>
            <a:off x="3571240" y="3302000"/>
            <a:ext cx="210312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스테이지</a:t>
            </a:r>
          </a:p>
        </p:txBody>
      </p:sp>
      <p:sp>
        <p:nvSpPr>
          <p:cNvPr id="113" name="Shape 10"/>
          <p:cNvSpPr/>
          <p:nvPr/>
        </p:nvSpPr>
        <p:spPr>
          <a:xfrm>
            <a:off x="6085840" y="2489200"/>
            <a:ext cx="2194562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Text 11"/>
          <p:cNvSpPr txBox="1"/>
          <p:nvPr/>
        </p:nvSpPr>
        <p:spPr>
          <a:xfrm>
            <a:off x="6131559" y="2622729"/>
            <a:ext cx="2103122" cy="601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4000">
                <a:solidFill>
                  <a:srgbClr val="F9E2A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5" name="Text 12"/>
          <p:cNvSpPr txBox="1"/>
          <p:nvPr/>
        </p:nvSpPr>
        <p:spPr>
          <a:xfrm>
            <a:off x="6131559" y="3302000"/>
            <a:ext cx="210312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8B949E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난이도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 txBox="1"/>
          <p:nvPr/>
        </p:nvSpPr>
        <p:spPr>
          <a:xfrm>
            <a:off x="594359" y="816611"/>
            <a:ext cx="1005843" cy="56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2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&gt;_</a:t>
            </a:r>
          </a:p>
        </p:txBody>
      </p:sp>
      <p:sp>
        <p:nvSpPr>
          <p:cNvPr id="120" name="Text 1"/>
          <p:cNvSpPr txBox="1"/>
          <p:nvPr/>
        </p:nvSpPr>
        <p:spPr>
          <a:xfrm>
            <a:off x="1600200" y="826160"/>
            <a:ext cx="7040879" cy="542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CommandCraftTutorial</a:t>
            </a:r>
          </a:p>
        </p:txBody>
      </p:sp>
      <p:sp>
        <p:nvSpPr>
          <p:cNvPr id="121" name="Shape 2"/>
          <p:cNvSpPr/>
          <p:nvPr/>
        </p:nvSpPr>
        <p:spPr>
          <a:xfrm>
            <a:off x="548640" y="1508760"/>
            <a:ext cx="8046719" cy="2743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Shape 7"/>
          <p:cNvSpPr/>
          <p:nvPr/>
        </p:nvSpPr>
        <p:spPr>
          <a:xfrm>
            <a:off x="520743" y="2286000"/>
            <a:ext cx="8102514" cy="1371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miter lim="400000"/>
          </a:ln>
          <a:effectLst>
            <a:outerShdw sx="100000" sy="100000" kx="0" ky="0" algn="b" rotWithShape="0" blurRad="101600" dist="254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https://cct-teal.vercel.app/"/>
          <p:cNvSpPr txBox="1"/>
          <p:nvPr/>
        </p:nvSpPr>
        <p:spPr>
          <a:xfrm>
            <a:off x="3274238" y="2805257"/>
            <a:ext cx="2647202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https://cct-teal.vercel.app/</a:t>
            </a:r>
            <a:r>
              <a:rPr u="none">
                <a:solidFill>
                  <a:srgbClr val="FFFFFF"/>
                </a:solidFill>
                <a:uFillTx/>
              </a:rP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594359" y="2035810"/>
            <a:ext cx="1005843" cy="56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2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&gt;_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1600200" y="2045360"/>
            <a:ext cx="7040879" cy="542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CommandCraftTutorial</a:t>
            </a:r>
          </a:p>
        </p:txBody>
      </p:sp>
      <p:sp>
        <p:nvSpPr>
          <p:cNvPr id="129" name="Shape 2"/>
          <p:cNvSpPr/>
          <p:nvPr/>
        </p:nvSpPr>
        <p:spPr>
          <a:xfrm>
            <a:off x="548640" y="2727960"/>
            <a:ext cx="8046719" cy="2743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텍스트"/>
          <p:cNvSpPr txBox="1"/>
          <p:nvPr/>
        </p:nvSpPr>
        <p:spPr>
          <a:xfrm>
            <a:off x="3274238" y="2805257"/>
            <a:ext cx="155819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3812614" y="4072822"/>
            <a:ext cx="1518773" cy="48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5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감사합니다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